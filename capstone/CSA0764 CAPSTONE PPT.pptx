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8" r:id="rId2"/>
    <p:sldId id="277" r:id="rId3"/>
    <p:sldId id="263" r:id="rId4"/>
    <p:sldId id="271" r:id="rId5"/>
    <p:sldId id="261" r:id="rId6"/>
    <p:sldId id="262" r:id="rId7"/>
    <p:sldId id="264" r:id="rId8"/>
    <p:sldId id="274" r:id="rId9"/>
    <p:sldId id="272" r:id="rId10"/>
    <p:sldId id="273" r:id="rId11"/>
    <p:sldId id="265" r:id="rId12"/>
    <p:sldId id="267" r:id="rId13"/>
    <p:sldId id="266" r:id="rId14"/>
    <p:sldId id="268" r:id="rId15"/>
    <p:sldId id="269" r:id="rId16"/>
    <p:sldId id="27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1F19"/>
    <a:srgbClr val="1C222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7095" autoAdjust="0"/>
    <p:restoredTop sz="94660"/>
  </p:normalViewPr>
  <p:slideViewPr>
    <p:cSldViewPr snapToGrid="0">
      <p:cViewPr varScale="1">
        <p:scale>
          <a:sx n="60" d="100"/>
          <a:sy n="60" d="100"/>
        </p:scale>
        <p:origin x="64"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354636-02F2-4F4F-8787-5622379121F6}" type="datetimeFigureOut">
              <a:rPr lang="en-IN" smtClean="0"/>
              <a:t>23-12-2025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FBD6A8-2D57-4651-8198-F751E497D94F}" type="slidenum">
              <a:rPr lang="en-IN" smtClean="0"/>
              <a:t>‹#›</a:t>
            </a:fld>
            <a:endParaRPr lang="en-IN"/>
          </a:p>
        </p:txBody>
      </p:sp>
    </p:spTree>
    <p:extLst>
      <p:ext uri="{BB962C8B-B14F-4D97-AF65-F5344CB8AC3E}">
        <p14:creationId xmlns:p14="http://schemas.microsoft.com/office/powerpoint/2010/main" val="5209254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EFBD6A8-2D57-4651-8198-F751E497D94F}" type="slidenum">
              <a:rPr lang="en-IN" smtClean="0"/>
              <a:t>1</a:t>
            </a:fld>
            <a:endParaRPr lang="en-IN"/>
          </a:p>
        </p:txBody>
      </p:sp>
    </p:spTree>
    <p:extLst>
      <p:ext uri="{BB962C8B-B14F-4D97-AF65-F5344CB8AC3E}">
        <p14:creationId xmlns:p14="http://schemas.microsoft.com/office/powerpoint/2010/main" val="38854058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7EFBD6A8-2D57-4651-8198-F751E497D94F}" type="slidenum">
              <a:rPr lang="en-IN" smtClean="0"/>
              <a:t>7</a:t>
            </a:fld>
            <a:endParaRPr lang="en-IN"/>
          </a:p>
        </p:txBody>
      </p:sp>
    </p:spTree>
    <p:extLst>
      <p:ext uri="{BB962C8B-B14F-4D97-AF65-F5344CB8AC3E}">
        <p14:creationId xmlns:p14="http://schemas.microsoft.com/office/powerpoint/2010/main" val="20103191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EFBD6A8-2D57-4651-8198-F751E497D94F}" type="slidenum">
              <a:rPr lang="en-IN" smtClean="0"/>
              <a:t>8</a:t>
            </a:fld>
            <a:endParaRPr lang="en-IN"/>
          </a:p>
        </p:txBody>
      </p:sp>
    </p:spTree>
    <p:extLst>
      <p:ext uri="{BB962C8B-B14F-4D97-AF65-F5344CB8AC3E}">
        <p14:creationId xmlns:p14="http://schemas.microsoft.com/office/powerpoint/2010/main" val="27304594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EFBD6A8-2D57-4651-8198-F751E497D94F}" type="slidenum">
              <a:rPr lang="en-IN" smtClean="0"/>
              <a:t>9</a:t>
            </a:fld>
            <a:endParaRPr lang="en-IN"/>
          </a:p>
        </p:txBody>
      </p:sp>
    </p:spTree>
    <p:extLst>
      <p:ext uri="{BB962C8B-B14F-4D97-AF65-F5344CB8AC3E}">
        <p14:creationId xmlns:p14="http://schemas.microsoft.com/office/powerpoint/2010/main" val="18740852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EFBD6A8-2D57-4651-8198-F751E497D94F}" type="slidenum">
              <a:rPr lang="en-IN" smtClean="0"/>
              <a:t>10</a:t>
            </a:fld>
            <a:endParaRPr lang="en-IN"/>
          </a:p>
        </p:txBody>
      </p:sp>
    </p:spTree>
    <p:extLst>
      <p:ext uri="{BB962C8B-B14F-4D97-AF65-F5344CB8AC3E}">
        <p14:creationId xmlns:p14="http://schemas.microsoft.com/office/powerpoint/2010/main" val="31936999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C92EC-8E63-A665-2A7F-8AD3F41D61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D5BC65D-9281-79B3-E9EB-2C7E312EE4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8BF553E-2904-79AD-5218-3CAFE660EF2E}"/>
              </a:ext>
            </a:extLst>
          </p:cNvPr>
          <p:cNvSpPr>
            <a:spLocks noGrp="1"/>
          </p:cNvSpPr>
          <p:nvPr>
            <p:ph type="dt" sz="half" idx="10"/>
          </p:nvPr>
        </p:nvSpPr>
        <p:spPr/>
        <p:txBody>
          <a:bodyPr/>
          <a:lstStyle/>
          <a:p>
            <a:fld id="{A7EB7624-7DD1-4D6F-ABAC-3F936CCDDCAC}" type="datetimeFigureOut">
              <a:rPr lang="en-IN" smtClean="0"/>
              <a:t>23-12-2025</a:t>
            </a:fld>
            <a:endParaRPr lang="en-IN"/>
          </a:p>
        </p:txBody>
      </p:sp>
      <p:sp>
        <p:nvSpPr>
          <p:cNvPr id="5" name="Footer Placeholder 4">
            <a:extLst>
              <a:ext uri="{FF2B5EF4-FFF2-40B4-BE49-F238E27FC236}">
                <a16:creationId xmlns:a16="http://schemas.microsoft.com/office/drawing/2014/main" id="{437B7506-28E3-8940-CE3C-77C8DE6F93C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8CFF039-0FF1-E8AD-D735-67248067416D}"/>
              </a:ext>
            </a:extLst>
          </p:cNvPr>
          <p:cNvSpPr>
            <a:spLocks noGrp="1"/>
          </p:cNvSpPr>
          <p:nvPr>
            <p:ph type="sldNum" sz="quarter" idx="12"/>
          </p:nvPr>
        </p:nvSpPr>
        <p:spPr/>
        <p:txBody>
          <a:bodyPr/>
          <a:lstStyle/>
          <a:p>
            <a:fld id="{20248B18-5527-4128-9BAE-4D0A3E3BEFF8}" type="slidenum">
              <a:rPr lang="en-IN" smtClean="0"/>
              <a:t>‹#›</a:t>
            </a:fld>
            <a:endParaRPr lang="en-IN"/>
          </a:p>
        </p:txBody>
      </p:sp>
    </p:spTree>
    <p:extLst>
      <p:ext uri="{BB962C8B-B14F-4D97-AF65-F5344CB8AC3E}">
        <p14:creationId xmlns:p14="http://schemas.microsoft.com/office/powerpoint/2010/main" val="3907677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7F440-3EA2-89A8-DC2A-1AD295140AD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17CEFF3-D734-20CF-570A-DC00C80C5A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23E55A-7D86-846A-72D4-632488399DBC}"/>
              </a:ext>
            </a:extLst>
          </p:cNvPr>
          <p:cNvSpPr>
            <a:spLocks noGrp="1"/>
          </p:cNvSpPr>
          <p:nvPr>
            <p:ph type="dt" sz="half" idx="10"/>
          </p:nvPr>
        </p:nvSpPr>
        <p:spPr/>
        <p:txBody>
          <a:bodyPr/>
          <a:lstStyle/>
          <a:p>
            <a:fld id="{A7EB7624-7DD1-4D6F-ABAC-3F936CCDDCAC}" type="datetimeFigureOut">
              <a:rPr lang="en-IN" smtClean="0"/>
              <a:t>23-12-2025</a:t>
            </a:fld>
            <a:endParaRPr lang="en-IN"/>
          </a:p>
        </p:txBody>
      </p:sp>
      <p:sp>
        <p:nvSpPr>
          <p:cNvPr id="5" name="Footer Placeholder 4">
            <a:extLst>
              <a:ext uri="{FF2B5EF4-FFF2-40B4-BE49-F238E27FC236}">
                <a16:creationId xmlns:a16="http://schemas.microsoft.com/office/drawing/2014/main" id="{3B43EA4F-3ADF-F6D0-728D-A98CD2DA567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FE0BDFF-2947-76C1-EF23-C2EA58A4BB3A}"/>
              </a:ext>
            </a:extLst>
          </p:cNvPr>
          <p:cNvSpPr>
            <a:spLocks noGrp="1"/>
          </p:cNvSpPr>
          <p:nvPr>
            <p:ph type="sldNum" sz="quarter" idx="12"/>
          </p:nvPr>
        </p:nvSpPr>
        <p:spPr/>
        <p:txBody>
          <a:bodyPr/>
          <a:lstStyle/>
          <a:p>
            <a:fld id="{20248B18-5527-4128-9BAE-4D0A3E3BEFF8}" type="slidenum">
              <a:rPr lang="en-IN" smtClean="0"/>
              <a:t>‹#›</a:t>
            </a:fld>
            <a:endParaRPr lang="en-IN"/>
          </a:p>
        </p:txBody>
      </p:sp>
    </p:spTree>
    <p:extLst>
      <p:ext uri="{BB962C8B-B14F-4D97-AF65-F5344CB8AC3E}">
        <p14:creationId xmlns:p14="http://schemas.microsoft.com/office/powerpoint/2010/main" val="12041247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C237B-5E21-FB59-0DE5-E743C22F02C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28EFA94-6703-8D53-E7F9-C5CF3381E54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095382F-7E92-04B2-0EDC-9BF7BCCFD190}"/>
              </a:ext>
            </a:extLst>
          </p:cNvPr>
          <p:cNvSpPr>
            <a:spLocks noGrp="1"/>
          </p:cNvSpPr>
          <p:nvPr>
            <p:ph type="dt" sz="half" idx="10"/>
          </p:nvPr>
        </p:nvSpPr>
        <p:spPr/>
        <p:txBody>
          <a:bodyPr/>
          <a:lstStyle/>
          <a:p>
            <a:fld id="{A7EB7624-7DD1-4D6F-ABAC-3F936CCDDCAC}" type="datetimeFigureOut">
              <a:rPr lang="en-IN" smtClean="0"/>
              <a:t>23-12-2025</a:t>
            </a:fld>
            <a:endParaRPr lang="en-IN"/>
          </a:p>
        </p:txBody>
      </p:sp>
      <p:sp>
        <p:nvSpPr>
          <p:cNvPr id="5" name="Footer Placeholder 4">
            <a:extLst>
              <a:ext uri="{FF2B5EF4-FFF2-40B4-BE49-F238E27FC236}">
                <a16:creationId xmlns:a16="http://schemas.microsoft.com/office/drawing/2014/main" id="{EBE88856-2EF5-B012-2B30-377C26F886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19591C-2F82-159D-EC18-EF77C88AC44A}"/>
              </a:ext>
            </a:extLst>
          </p:cNvPr>
          <p:cNvSpPr>
            <a:spLocks noGrp="1"/>
          </p:cNvSpPr>
          <p:nvPr>
            <p:ph type="sldNum" sz="quarter" idx="12"/>
          </p:nvPr>
        </p:nvSpPr>
        <p:spPr/>
        <p:txBody>
          <a:bodyPr/>
          <a:lstStyle/>
          <a:p>
            <a:fld id="{20248B18-5527-4128-9BAE-4D0A3E3BEFF8}" type="slidenum">
              <a:rPr lang="en-IN" smtClean="0"/>
              <a:t>‹#›</a:t>
            </a:fld>
            <a:endParaRPr lang="en-IN"/>
          </a:p>
        </p:txBody>
      </p:sp>
    </p:spTree>
    <p:extLst>
      <p:ext uri="{BB962C8B-B14F-4D97-AF65-F5344CB8AC3E}">
        <p14:creationId xmlns:p14="http://schemas.microsoft.com/office/powerpoint/2010/main" val="17824359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37125-BAB8-E0A8-57AB-D8B6BF45082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E8B03C6-86CA-27AA-72A6-7B76D83C03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1BC0769-4BD5-75EE-4E5F-BB621980E3B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CACBCF4-6436-04ED-05B8-5500975DFED8}"/>
              </a:ext>
            </a:extLst>
          </p:cNvPr>
          <p:cNvSpPr>
            <a:spLocks noGrp="1"/>
          </p:cNvSpPr>
          <p:nvPr>
            <p:ph type="dt" sz="half" idx="10"/>
          </p:nvPr>
        </p:nvSpPr>
        <p:spPr/>
        <p:txBody>
          <a:bodyPr/>
          <a:lstStyle/>
          <a:p>
            <a:fld id="{A7EB7624-7DD1-4D6F-ABAC-3F936CCDDCAC}" type="datetimeFigureOut">
              <a:rPr lang="en-IN" smtClean="0"/>
              <a:t>23-12-2025</a:t>
            </a:fld>
            <a:endParaRPr lang="en-IN"/>
          </a:p>
        </p:txBody>
      </p:sp>
      <p:sp>
        <p:nvSpPr>
          <p:cNvPr id="6" name="Footer Placeholder 5">
            <a:extLst>
              <a:ext uri="{FF2B5EF4-FFF2-40B4-BE49-F238E27FC236}">
                <a16:creationId xmlns:a16="http://schemas.microsoft.com/office/drawing/2014/main" id="{ADA25BE3-A388-8DE9-9BE7-0210D017D55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95DF0F5-F5C4-A657-40F4-70473F2A83D5}"/>
              </a:ext>
            </a:extLst>
          </p:cNvPr>
          <p:cNvSpPr>
            <a:spLocks noGrp="1"/>
          </p:cNvSpPr>
          <p:nvPr>
            <p:ph type="sldNum" sz="quarter" idx="12"/>
          </p:nvPr>
        </p:nvSpPr>
        <p:spPr/>
        <p:txBody>
          <a:bodyPr/>
          <a:lstStyle/>
          <a:p>
            <a:fld id="{20248B18-5527-4128-9BAE-4D0A3E3BEFF8}" type="slidenum">
              <a:rPr lang="en-IN" smtClean="0"/>
              <a:t>‹#›</a:t>
            </a:fld>
            <a:endParaRPr lang="en-IN"/>
          </a:p>
        </p:txBody>
      </p:sp>
    </p:spTree>
    <p:extLst>
      <p:ext uri="{BB962C8B-B14F-4D97-AF65-F5344CB8AC3E}">
        <p14:creationId xmlns:p14="http://schemas.microsoft.com/office/powerpoint/2010/main" val="9307528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CA853-8C34-2987-6D67-8425C279E0F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84A8B76-C73C-23B5-87B8-D0FC3F6E86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6CF31F-403C-C82D-B050-72BBEE7018C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7CEE7FD-8250-DB3A-229E-712DBF3E2C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1BEF6B9-4079-04E5-2206-2C0E27459B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57CD261-62B7-5CCC-1ED3-B890B506EEDC}"/>
              </a:ext>
            </a:extLst>
          </p:cNvPr>
          <p:cNvSpPr>
            <a:spLocks noGrp="1"/>
          </p:cNvSpPr>
          <p:nvPr>
            <p:ph type="dt" sz="half" idx="10"/>
          </p:nvPr>
        </p:nvSpPr>
        <p:spPr/>
        <p:txBody>
          <a:bodyPr/>
          <a:lstStyle/>
          <a:p>
            <a:fld id="{A7EB7624-7DD1-4D6F-ABAC-3F936CCDDCAC}" type="datetimeFigureOut">
              <a:rPr lang="en-IN" smtClean="0"/>
              <a:t>23-12-2025</a:t>
            </a:fld>
            <a:endParaRPr lang="en-IN"/>
          </a:p>
        </p:txBody>
      </p:sp>
      <p:sp>
        <p:nvSpPr>
          <p:cNvPr id="8" name="Footer Placeholder 7">
            <a:extLst>
              <a:ext uri="{FF2B5EF4-FFF2-40B4-BE49-F238E27FC236}">
                <a16:creationId xmlns:a16="http://schemas.microsoft.com/office/drawing/2014/main" id="{B195EC00-566D-5EDF-8523-A50081A9F16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F86E2F1-7796-257D-4A53-4FC953E9BA55}"/>
              </a:ext>
            </a:extLst>
          </p:cNvPr>
          <p:cNvSpPr>
            <a:spLocks noGrp="1"/>
          </p:cNvSpPr>
          <p:nvPr>
            <p:ph type="sldNum" sz="quarter" idx="12"/>
          </p:nvPr>
        </p:nvSpPr>
        <p:spPr/>
        <p:txBody>
          <a:bodyPr/>
          <a:lstStyle/>
          <a:p>
            <a:fld id="{20248B18-5527-4128-9BAE-4D0A3E3BEFF8}" type="slidenum">
              <a:rPr lang="en-IN" smtClean="0"/>
              <a:t>‹#›</a:t>
            </a:fld>
            <a:endParaRPr lang="en-IN"/>
          </a:p>
        </p:txBody>
      </p:sp>
    </p:spTree>
    <p:extLst>
      <p:ext uri="{BB962C8B-B14F-4D97-AF65-F5344CB8AC3E}">
        <p14:creationId xmlns:p14="http://schemas.microsoft.com/office/powerpoint/2010/main" val="2293605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60119-685B-C987-E798-F980AF632D8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1795411-9FB4-1BA6-3282-8C9618845DAE}"/>
              </a:ext>
            </a:extLst>
          </p:cNvPr>
          <p:cNvSpPr>
            <a:spLocks noGrp="1"/>
          </p:cNvSpPr>
          <p:nvPr>
            <p:ph type="dt" sz="half" idx="10"/>
          </p:nvPr>
        </p:nvSpPr>
        <p:spPr/>
        <p:txBody>
          <a:bodyPr/>
          <a:lstStyle/>
          <a:p>
            <a:fld id="{A7EB7624-7DD1-4D6F-ABAC-3F936CCDDCAC}" type="datetimeFigureOut">
              <a:rPr lang="en-IN" smtClean="0"/>
              <a:t>23-12-2025</a:t>
            </a:fld>
            <a:endParaRPr lang="en-IN"/>
          </a:p>
        </p:txBody>
      </p:sp>
      <p:sp>
        <p:nvSpPr>
          <p:cNvPr id="4" name="Footer Placeholder 3">
            <a:extLst>
              <a:ext uri="{FF2B5EF4-FFF2-40B4-BE49-F238E27FC236}">
                <a16:creationId xmlns:a16="http://schemas.microsoft.com/office/drawing/2014/main" id="{69A40811-D217-8008-DD02-30D032420E9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C782F9D-1927-2D7E-C6A7-2DF837E4BCA1}"/>
              </a:ext>
            </a:extLst>
          </p:cNvPr>
          <p:cNvSpPr>
            <a:spLocks noGrp="1"/>
          </p:cNvSpPr>
          <p:nvPr>
            <p:ph type="sldNum" sz="quarter" idx="12"/>
          </p:nvPr>
        </p:nvSpPr>
        <p:spPr/>
        <p:txBody>
          <a:bodyPr/>
          <a:lstStyle/>
          <a:p>
            <a:fld id="{20248B18-5527-4128-9BAE-4D0A3E3BEFF8}" type="slidenum">
              <a:rPr lang="en-IN" smtClean="0"/>
              <a:t>‹#›</a:t>
            </a:fld>
            <a:endParaRPr lang="en-IN"/>
          </a:p>
        </p:txBody>
      </p:sp>
    </p:spTree>
    <p:extLst>
      <p:ext uri="{BB962C8B-B14F-4D97-AF65-F5344CB8AC3E}">
        <p14:creationId xmlns:p14="http://schemas.microsoft.com/office/powerpoint/2010/main" val="14533502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C28852C-AA34-47FE-D6F9-62DFDDCC23ED}"/>
              </a:ext>
            </a:extLst>
          </p:cNvPr>
          <p:cNvSpPr>
            <a:spLocks noGrp="1"/>
          </p:cNvSpPr>
          <p:nvPr>
            <p:ph type="dt" sz="half" idx="10"/>
          </p:nvPr>
        </p:nvSpPr>
        <p:spPr/>
        <p:txBody>
          <a:bodyPr/>
          <a:lstStyle/>
          <a:p>
            <a:fld id="{A7EB7624-7DD1-4D6F-ABAC-3F936CCDDCAC}" type="datetimeFigureOut">
              <a:rPr lang="en-IN" smtClean="0"/>
              <a:t>23-12-2025</a:t>
            </a:fld>
            <a:endParaRPr lang="en-IN"/>
          </a:p>
        </p:txBody>
      </p:sp>
      <p:sp>
        <p:nvSpPr>
          <p:cNvPr id="3" name="Footer Placeholder 2">
            <a:extLst>
              <a:ext uri="{FF2B5EF4-FFF2-40B4-BE49-F238E27FC236}">
                <a16:creationId xmlns:a16="http://schemas.microsoft.com/office/drawing/2014/main" id="{8CFDB309-31F5-B11F-CBB6-C50651DA5F6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93DA50E-0C74-EA20-C5CF-1CEDC5DC4B22}"/>
              </a:ext>
            </a:extLst>
          </p:cNvPr>
          <p:cNvSpPr>
            <a:spLocks noGrp="1"/>
          </p:cNvSpPr>
          <p:nvPr>
            <p:ph type="sldNum" sz="quarter" idx="12"/>
          </p:nvPr>
        </p:nvSpPr>
        <p:spPr/>
        <p:txBody>
          <a:bodyPr/>
          <a:lstStyle/>
          <a:p>
            <a:fld id="{20248B18-5527-4128-9BAE-4D0A3E3BEFF8}" type="slidenum">
              <a:rPr lang="en-IN" smtClean="0"/>
              <a:t>‹#›</a:t>
            </a:fld>
            <a:endParaRPr lang="en-IN"/>
          </a:p>
        </p:txBody>
      </p:sp>
    </p:spTree>
    <p:extLst>
      <p:ext uri="{BB962C8B-B14F-4D97-AF65-F5344CB8AC3E}">
        <p14:creationId xmlns:p14="http://schemas.microsoft.com/office/powerpoint/2010/main" val="33609267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A308B-8269-0D6C-570D-9F3C57E024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2435CC2-EDDD-CC77-3CEC-E3426CD944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1E87847-D348-991B-7EEE-6D756374EB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49D37C-CFFE-172B-D007-63A8BC4747B8}"/>
              </a:ext>
            </a:extLst>
          </p:cNvPr>
          <p:cNvSpPr>
            <a:spLocks noGrp="1"/>
          </p:cNvSpPr>
          <p:nvPr>
            <p:ph type="dt" sz="half" idx="10"/>
          </p:nvPr>
        </p:nvSpPr>
        <p:spPr/>
        <p:txBody>
          <a:bodyPr/>
          <a:lstStyle/>
          <a:p>
            <a:fld id="{A7EB7624-7DD1-4D6F-ABAC-3F936CCDDCAC}" type="datetimeFigureOut">
              <a:rPr lang="en-IN" smtClean="0"/>
              <a:t>23-12-2025</a:t>
            </a:fld>
            <a:endParaRPr lang="en-IN"/>
          </a:p>
        </p:txBody>
      </p:sp>
      <p:sp>
        <p:nvSpPr>
          <p:cNvPr id="6" name="Footer Placeholder 5">
            <a:extLst>
              <a:ext uri="{FF2B5EF4-FFF2-40B4-BE49-F238E27FC236}">
                <a16:creationId xmlns:a16="http://schemas.microsoft.com/office/drawing/2014/main" id="{5456A4FD-F62E-CA75-3409-9F3D47D1DF0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6573B1F-AA94-298F-4A23-B0E1DB8885AB}"/>
              </a:ext>
            </a:extLst>
          </p:cNvPr>
          <p:cNvSpPr>
            <a:spLocks noGrp="1"/>
          </p:cNvSpPr>
          <p:nvPr>
            <p:ph type="sldNum" sz="quarter" idx="12"/>
          </p:nvPr>
        </p:nvSpPr>
        <p:spPr/>
        <p:txBody>
          <a:bodyPr/>
          <a:lstStyle/>
          <a:p>
            <a:fld id="{20248B18-5527-4128-9BAE-4D0A3E3BEFF8}" type="slidenum">
              <a:rPr lang="en-IN" smtClean="0"/>
              <a:t>‹#›</a:t>
            </a:fld>
            <a:endParaRPr lang="en-IN"/>
          </a:p>
        </p:txBody>
      </p:sp>
    </p:spTree>
    <p:extLst>
      <p:ext uri="{BB962C8B-B14F-4D97-AF65-F5344CB8AC3E}">
        <p14:creationId xmlns:p14="http://schemas.microsoft.com/office/powerpoint/2010/main" val="42316298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44521-2D65-8197-AF93-A84D9912A6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06A1AD7-A196-3241-A703-60D21891CF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4CE9BD0-CEF1-4AC8-626B-16785AAF40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DE899E-028A-C12A-F141-D471406FE040}"/>
              </a:ext>
            </a:extLst>
          </p:cNvPr>
          <p:cNvSpPr>
            <a:spLocks noGrp="1"/>
          </p:cNvSpPr>
          <p:nvPr>
            <p:ph type="dt" sz="half" idx="10"/>
          </p:nvPr>
        </p:nvSpPr>
        <p:spPr/>
        <p:txBody>
          <a:bodyPr/>
          <a:lstStyle/>
          <a:p>
            <a:fld id="{A7EB7624-7DD1-4D6F-ABAC-3F936CCDDCAC}" type="datetimeFigureOut">
              <a:rPr lang="en-IN" smtClean="0"/>
              <a:t>23-12-2025</a:t>
            </a:fld>
            <a:endParaRPr lang="en-IN"/>
          </a:p>
        </p:txBody>
      </p:sp>
      <p:sp>
        <p:nvSpPr>
          <p:cNvPr id="6" name="Footer Placeholder 5">
            <a:extLst>
              <a:ext uri="{FF2B5EF4-FFF2-40B4-BE49-F238E27FC236}">
                <a16:creationId xmlns:a16="http://schemas.microsoft.com/office/drawing/2014/main" id="{3669B040-A5C3-01A2-E0DF-10F40011084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14A309D-BCB2-5F50-792F-D537895BE20E}"/>
              </a:ext>
            </a:extLst>
          </p:cNvPr>
          <p:cNvSpPr>
            <a:spLocks noGrp="1"/>
          </p:cNvSpPr>
          <p:nvPr>
            <p:ph type="sldNum" sz="quarter" idx="12"/>
          </p:nvPr>
        </p:nvSpPr>
        <p:spPr/>
        <p:txBody>
          <a:bodyPr/>
          <a:lstStyle/>
          <a:p>
            <a:fld id="{20248B18-5527-4128-9BAE-4D0A3E3BEFF8}" type="slidenum">
              <a:rPr lang="en-IN" smtClean="0"/>
              <a:t>‹#›</a:t>
            </a:fld>
            <a:endParaRPr lang="en-IN"/>
          </a:p>
        </p:txBody>
      </p:sp>
    </p:spTree>
    <p:extLst>
      <p:ext uri="{BB962C8B-B14F-4D97-AF65-F5344CB8AC3E}">
        <p14:creationId xmlns:p14="http://schemas.microsoft.com/office/powerpoint/2010/main" val="26225941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224A0-92EA-A3F0-0546-43C98325B98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3AF5328-6383-10BC-F2CF-37D17240228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429491-8C43-D3DD-F4B3-F1859A9BC201}"/>
              </a:ext>
            </a:extLst>
          </p:cNvPr>
          <p:cNvSpPr>
            <a:spLocks noGrp="1"/>
          </p:cNvSpPr>
          <p:nvPr>
            <p:ph type="dt" sz="half" idx="10"/>
          </p:nvPr>
        </p:nvSpPr>
        <p:spPr/>
        <p:txBody>
          <a:bodyPr/>
          <a:lstStyle/>
          <a:p>
            <a:fld id="{A7EB7624-7DD1-4D6F-ABAC-3F936CCDDCAC}" type="datetimeFigureOut">
              <a:rPr lang="en-IN" smtClean="0"/>
              <a:t>23-12-2025</a:t>
            </a:fld>
            <a:endParaRPr lang="en-IN"/>
          </a:p>
        </p:txBody>
      </p:sp>
      <p:sp>
        <p:nvSpPr>
          <p:cNvPr id="5" name="Footer Placeholder 4">
            <a:extLst>
              <a:ext uri="{FF2B5EF4-FFF2-40B4-BE49-F238E27FC236}">
                <a16:creationId xmlns:a16="http://schemas.microsoft.com/office/drawing/2014/main" id="{EC8B16B9-F434-F9AD-CEC1-E85B9E2D6AB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FF3ED2-8B57-7456-F5E9-1202BDFF0AF5}"/>
              </a:ext>
            </a:extLst>
          </p:cNvPr>
          <p:cNvSpPr>
            <a:spLocks noGrp="1"/>
          </p:cNvSpPr>
          <p:nvPr>
            <p:ph type="sldNum" sz="quarter" idx="12"/>
          </p:nvPr>
        </p:nvSpPr>
        <p:spPr/>
        <p:txBody>
          <a:bodyPr/>
          <a:lstStyle/>
          <a:p>
            <a:fld id="{20248B18-5527-4128-9BAE-4D0A3E3BEFF8}" type="slidenum">
              <a:rPr lang="en-IN" smtClean="0"/>
              <a:t>‹#›</a:t>
            </a:fld>
            <a:endParaRPr lang="en-IN"/>
          </a:p>
        </p:txBody>
      </p:sp>
    </p:spTree>
    <p:extLst>
      <p:ext uri="{BB962C8B-B14F-4D97-AF65-F5344CB8AC3E}">
        <p14:creationId xmlns:p14="http://schemas.microsoft.com/office/powerpoint/2010/main" val="4243620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826EA9-D206-3215-5F2F-110F829ABA6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DDAAE50-C0A2-C930-38D0-7F77F6BEB56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91E62C-D07C-FB1A-5B7D-C94D84712E90}"/>
              </a:ext>
            </a:extLst>
          </p:cNvPr>
          <p:cNvSpPr>
            <a:spLocks noGrp="1"/>
          </p:cNvSpPr>
          <p:nvPr>
            <p:ph type="dt" sz="half" idx="10"/>
          </p:nvPr>
        </p:nvSpPr>
        <p:spPr/>
        <p:txBody>
          <a:bodyPr/>
          <a:lstStyle/>
          <a:p>
            <a:fld id="{A7EB7624-7DD1-4D6F-ABAC-3F936CCDDCAC}" type="datetimeFigureOut">
              <a:rPr lang="en-IN" smtClean="0"/>
              <a:t>23-12-2025</a:t>
            </a:fld>
            <a:endParaRPr lang="en-IN"/>
          </a:p>
        </p:txBody>
      </p:sp>
      <p:sp>
        <p:nvSpPr>
          <p:cNvPr id="5" name="Footer Placeholder 4">
            <a:extLst>
              <a:ext uri="{FF2B5EF4-FFF2-40B4-BE49-F238E27FC236}">
                <a16:creationId xmlns:a16="http://schemas.microsoft.com/office/drawing/2014/main" id="{13E74B5D-0E9D-0D2B-56E4-8E8A373895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CEAB039-9DA8-5E48-E3DE-6F10A932BEC2}"/>
              </a:ext>
            </a:extLst>
          </p:cNvPr>
          <p:cNvSpPr>
            <a:spLocks noGrp="1"/>
          </p:cNvSpPr>
          <p:nvPr>
            <p:ph type="sldNum" sz="quarter" idx="12"/>
          </p:nvPr>
        </p:nvSpPr>
        <p:spPr/>
        <p:txBody>
          <a:bodyPr/>
          <a:lstStyle/>
          <a:p>
            <a:fld id="{20248B18-5527-4128-9BAE-4D0A3E3BEFF8}" type="slidenum">
              <a:rPr lang="en-IN" smtClean="0"/>
              <a:t>‹#›</a:t>
            </a:fld>
            <a:endParaRPr lang="en-IN"/>
          </a:p>
        </p:txBody>
      </p:sp>
    </p:spTree>
    <p:extLst>
      <p:ext uri="{BB962C8B-B14F-4D97-AF65-F5344CB8AC3E}">
        <p14:creationId xmlns:p14="http://schemas.microsoft.com/office/powerpoint/2010/main" val="16075485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3708BE-023E-5DF5-6A27-E184C7C467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193A716-7ACB-3360-B870-1993149EBF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011806-55EF-F5CC-990B-413903224F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EB7624-7DD1-4D6F-ABAC-3F936CCDDCAC}" type="datetimeFigureOut">
              <a:rPr lang="en-IN" smtClean="0"/>
              <a:t>23-12-2025</a:t>
            </a:fld>
            <a:endParaRPr lang="en-IN"/>
          </a:p>
        </p:txBody>
      </p:sp>
      <p:sp>
        <p:nvSpPr>
          <p:cNvPr id="5" name="Footer Placeholder 4">
            <a:extLst>
              <a:ext uri="{FF2B5EF4-FFF2-40B4-BE49-F238E27FC236}">
                <a16:creationId xmlns:a16="http://schemas.microsoft.com/office/drawing/2014/main" id="{43CA641D-389D-BB9D-FFAB-F3C5E5F0E5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A30193E-F6AC-6D9C-5261-DB5515F7A8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0248B18-5527-4128-9BAE-4D0A3E3BEFF8}" type="slidenum">
              <a:rPr lang="en-IN" smtClean="0"/>
              <a:t>‹#›</a:t>
            </a:fld>
            <a:endParaRPr lang="en-IN"/>
          </a:p>
        </p:txBody>
      </p:sp>
    </p:spTree>
    <p:extLst>
      <p:ext uri="{BB962C8B-B14F-4D97-AF65-F5344CB8AC3E}">
        <p14:creationId xmlns:p14="http://schemas.microsoft.com/office/powerpoint/2010/main" val="12741088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A8BDAC8-C6E3-5807-544C-69870ECCCE74}"/>
              </a:ext>
            </a:extLst>
          </p:cNvPr>
          <p:cNvSpPr txBox="1"/>
          <p:nvPr/>
        </p:nvSpPr>
        <p:spPr>
          <a:xfrm>
            <a:off x="1645759" y="1651020"/>
            <a:ext cx="9867900" cy="1477328"/>
          </a:xfrm>
          <a:prstGeom prst="rect">
            <a:avLst/>
          </a:prstGeom>
          <a:noFill/>
        </p:spPr>
        <p:txBody>
          <a:bodyPr wrap="square" rtlCol="0">
            <a:spAutoFit/>
          </a:bodyPr>
          <a:lstStyle/>
          <a:p>
            <a:r>
              <a:rPr lang="en-US" sz="3000" b="1" dirty="0">
                <a:solidFill>
                  <a:schemeClr val="accent1">
                    <a:lumMod val="75000"/>
                  </a:schemeClr>
                </a:solidFill>
                <a:latin typeface="Times New Roman" panose="02020603050405020304" pitchFamily="18" charset="0"/>
                <a:cs typeface="Times New Roman" panose="02020603050405020304" pitchFamily="18" charset="0"/>
              </a:rPr>
              <a:t> “Development of an Encrypted Email Transmission System Using SMTP  over SSL/TLS”</a:t>
            </a:r>
          </a:p>
          <a:p>
            <a:endParaRPr lang="en-IN" sz="30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6D95152-D276-6F6D-DF78-6865FE2F9F2F}"/>
              </a:ext>
            </a:extLst>
          </p:cNvPr>
          <p:cNvSpPr txBox="1"/>
          <p:nvPr/>
        </p:nvSpPr>
        <p:spPr>
          <a:xfrm>
            <a:off x="-1711452" y="2888007"/>
            <a:ext cx="8257032" cy="2970044"/>
          </a:xfrm>
          <a:prstGeom prst="rect">
            <a:avLst/>
          </a:prstGeom>
          <a:noFill/>
        </p:spPr>
        <p:txBody>
          <a:bodyPr wrap="square" rtlCol="0">
            <a:spAutoFit/>
          </a:bodyPr>
          <a:lstStyle/>
          <a:p>
            <a:r>
              <a:rPr lang="en-US" sz="2200" i="1" dirty="0">
                <a:solidFill>
                  <a:schemeClr val="accent1">
                    <a:lumMod val="50000"/>
                  </a:schemeClr>
                </a:solidFill>
                <a:latin typeface="Times New Roman" panose="02020603050405020304" pitchFamily="18" charset="0"/>
                <a:cs typeface="Times New Roman" panose="02020603050405020304" pitchFamily="18" charset="0"/>
              </a:rPr>
              <a:t>                                          </a:t>
            </a:r>
          </a:p>
          <a:p>
            <a:r>
              <a:rPr lang="en-US" sz="2200" i="1" dirty="0">
                <a:solidFill>
                  <a:srgbClr val="FF0000"/>
                </a:solidFill>
                <a:latin typeface="Times New Roman" panose="02020603050405020304" pitchFamily="18" charset="0"/>
                <a:cs typeface="Times New Roman" panose="02020603050405020304" pitchFamily="18" charset="0"/>
              </a:rPr>
              <a:t>                                            </a:t>
            </a:r>
            <a:r>
              <a:rPr lang="en-US" sz="2200" b="1" i="1" dirty="0">
                <a:solidFill>
                  <a:srgbClr val="FF0000"/>
                </a:solidFill>
                <a:latin typeface="Times New Roman" panose="02020603050405020304" pitchFamily="18" charset="0"/>
                <a:cs typeface="Times New Roman" panose="02020603050405020304" pitchFamily="18" charset="0"/>
              </a:rPr>
              <a:t>Presented by: </a:t>
            </a:r>
          </a:p>
          <a:p>
            <a:endParaRPr lang="en-US" sz="2200" b="1" i="1" dirty="0">
              <a:solidFill>
                <a:schemeClr val="accent1">
                  <a:lumMod val="50000"/>
                </a:schemeClr>
              </a:solidFill>
              <a:latin typeface="Times New Roman" panose="02020603050405020304" pitchFamily="18" charset="0"/>
              <a:cs typeface="Times New Roman" panose="02020603050405020304" pitchFamily="18" charset="0"/>
            </a:endParaRPr>
          </a:p>
          <a:p>
            <a:r>
              <a:rPr lang="en-IN" sz="2700" i="1" dirty="0">
                <a:solidFill>
                  <a:schemeClr val="accent1">
                    <a:lumMod val="75000"/>
                  </a:schemeClr>
                </a:solidFill>
                <a:latin typeface="Times New Roman" panose="02020603050405020304" pitchFamily="18" charset="0"/>
                <a:cs typeface="Times New Roman" panose="02020603050405020304" pitchFamily="18" charset="0"/>
              </a:rPr>
              <a:t>                         </a:t>
            </a:r>
            <a:r>
              <a:rPr lang="en-IN" sz="2400" b="1" i="1" dirty="0">
                <a:solidFill>
                  <a:schemeClr val="accent1">
                    <a:lumMod val="50000"/>
                  </a:schemeClr>
                </a:solidFill>
                <a:latin typeface="Times New Roman" panose="02020603050405020304" pitchFamily="18" charset="0"/>
                <a:cs typeface="Times New Roman" panose="02020603050405020304" pitchFamily="18" charset="0"/>
              </a:rPr>
              <a:t>Yogesh </a:t>
            </a:r>
            <a:r>
              <a:rPr lang="en-IN" sz="2400" b="1" i="1" dirty="0" err="1">
                <a:solidFill>
                  <a:schemeClr val="accent1">
                    <a:lumMod val="50000"/>
                  </a:schemeClr>
                </a:solidFill>
                <a:latin typeface="Times New Roman" panose="02020603050405020304" pitchFamily="18" charset="0"/>
                <a:cs typeface="Times New Roman" panose="02020603050405020304" pitchFamily="18" charset="0"/>
              </a:rPr>
              <a:t>ramu</a:t>
            </a:r>
            <a:r>
              <a:rPr lang="en-IN" sz="2400" b="1" i="1" dirty="0">
                <a:solidFill>
                  <a:schemeClr val="accent1">
                    <a:lumMod val="50000"/>
                  </a:schemeClr>
                </a:solidFill>
                <a:latin typeface="Times New Roman" panose="02020603050405020304" pitchFamily="18" charset="0"/>
                <a:cs typeface="Times New Roman" panose="02020603050405020304" pitchFamily="18" charset="0"/>
              </a:rPr>
              <a:t> B(192572178)</a:t>
            </a:r>
          </a:p>
          <a:p>
            <a:r>
              <a:rPr lang="en-IN" sz="2400" b="1" i="1" dirty="0">
                <a:solidFill>
                  <a:schemeClr val="accent1">
                    <a:lumMod val="50000"/>
                  </a:schemeClr>
                </a:solidFill>
                <a:latin typeface="Times New Roman" panose="02020603050405020304" pitchFamily="18" charset="0"/>
                <a:cs typeface="Times New Roman" panose="02020603050405020304" pitchFamily="18" charset="0"/>
              </a:rPr>
              <a:t>	                Sunil </a:t>
            </a:r>
            <a:r>
              <a:rPr lang="en-IN" sz="2400" b="1" i="1" dirty="0" err="1">
                <a:solidFill>
                  <a:schemeClr val="accent1">
                    <a:lumMod val="50000"/>
                  </a:schemeClr>
                </a:solidFill>
                <a:latin typeface="Times New Roman" panose="02020603050405020304" pitchFamily="18" charset="0"/>
                <a:cs typeface="Times New Roman" panose="02020603050405020304" pitchFamily="18" charset="0"/>
              </a:rPr>
              <a:t>kumar</a:t>
            </a:r>
            <a:r>
              <a:rPr lang="en-IN" sz="2400" b="1" i="1" dirty="0">
                <a:solidFill>
                  <a:schemeClr val="accent1">
                    <a:lumMod val="50000"/>
                  </a:schemeClr>
                </a:solidFill>
                <a:latin typeface="Times New Roman" panose="02020603050405020304" pitchFamily="18" charset="0"/>
                <a:cs typeface="Times New Roman" panose="02020603050405020304" pitchFamily="18" charset="0"/>
              </a:rPr>
              <a:t> P S(192521439)</a:t>
            </a:r>
          </a:p>
          <a:p>
            <a:r>
              <a:rPr lang="en-IN" sz="2400" b="1" i="1" dirty="0">
                <a:solidFill>
                  <a:schemeClr val="accent1">
                    <a:lumMod val="50000"/>
                  </a:schemeClr>
                </a:solidFill>
                <a:latin typeface="Times New Roman" panose="02020603050405020304" pitchFamily="18" charset="0"/>
                <a:cs typeface="Times New Roman" panose="02020603050405020304" pitchFamily="18" charset="0"/>
              </a:rPr>
              <a:t>                            Sham </a:t>
            </a:r>
            <a:r>
              <a:rPr lang="en-IN" sz="2400" b="1" i="1" dirty="0" err="1">
                <a:solidFill>
                  <a:schemeClr val="accent1">
                    <a:lumMod val="50000"/>
                  </a:schemeClr>
                </a:solidFill>
                <a:latin typeface="Times New Roman" panose="02020603050405020304" pitchFamily="18" charset="0"/>
                <a:cs typeface="Times New Roman" panose="02020603050405020304" pitchFamily="18" charset="0"/>
              </a:rPr>
              <a:t>jayakaran</a:t>
            </a:r>
            <a:r>
              <a:rPr lang="en-IN" sz="2400" b="1" i="1" dirty="0">
                <a:solidFill>
                  <a:schemeClr val="accent1">
                    <a:lumMod val="50000"/>
                  </a:schemeClr>
                </a:solidFill>
                <a:latin typeface="Times New Roman" panose="02020603050405020304" pitchFamily="18" charset="0"/>
                <a:cs typeface="Times New Roman" panose="02020603050405020304" pitchFamily="18" charset="0"/>
              </a:rPr>
              <a:t> P(192565097)</a:t>
            </a:r>
          </a:p>
          <a:p>
            <a:endParaRPr lang="en-IN" sz="2400" i="1" dirty="0">
              <a:solidFill>
                <a:schemeClr val="accent1">
                  <a:lumMod val="50000"/>
                </a:schemeClr>
              </a:solidFill>
              <a:latin typeface="Times New Roman" panose="02020603050405020304" pitchFamily="18" charset="0"/>
              <a:cs typeface="Times New Roman" panose="02020603050405020304" pitchFamily="18" charset="0"/>
            </a:endParaRPr>
          </a:p>
          <a:p>
            <a:r>
              <a:rPr lang="en-IN" sz="2200" b="1" i="1" dirty="0">
                <a:solidFill>
                  <a:schemeClr val="accent1">
                    <a:lumMod val="50000"/>
                  </a:schemeClr>
                </a:solidFill>
                <a:latin typeface="Times New Roman" panose="02020603050405020304" pitchFamily="18" charset="0"/>
                <a:cs typeface="Times New Roman" panose="02020603050405020304" pitchFamily="18" charset="0"/>
              </a:rPr>
              <a:t> </a:t>
            </a:r>
          </a:p>
        </p:txBody>
      </p:sp>
      <p:sp>
        <p:nvSpPr>
          <p:cNvPr id="7" name="TextBox 6">
            <a:extLst>
              <a:ext uri="{FF2B5EF4-FFF2-40B4-BE49-F238E27FC236}">
                <a16:creationId xmlns:a16="http://schemas.microsoft.com/office/drawing/2014/main" id="{BBF441C0-5001-1EAE-8883-2F6C704575F1}"/>
              </a:ext>
            </a:extLst>
          </p:cNvPr>
          <p:cNvSpPr txBox="1"/>
          <p:nvPr/>
        </p:nvSpPr>
        <p:spPr>
          <a:xfrm>
            <a:off x="2724912" y="5373303"/>
            <a:ext cx="11364891" cy="477054"/>
          </a:xfrm>
          <a:prstGeom prst="rect">
            <a:avLst/>
          </a:prstGeom>
          <a:noFill/>
        </p:spPr>
        <p:txBody>
          <a:bodyPr wrap="square" rtlCol="0">
            <a:spAutoFit/>
          </a:bodyPr>
          <a:lstStyle/>
          <a:p>
            <a:r>
              <a:rPr lang="en-US" sz="2500" b="1" dirty="0">
                <a:solidFill>
                  <a:srgbClr val="002060"/>
                </a:solidFill>
                <a:latin typeface="Times New Roman" panose="02020603050405020304" pitchFamily="18" charset="0"/>
                <a:cs typeface="Times New Roman" panose="02020603050405020304" pitchFamily="18" charset="0"/>
              </a:rPr>
              <a:t>CSA0764 - </a:t>
            </a:r>
            <a:r>
              <a:rPr lang="en-US" sz="2500" i="1" dirty="0">
                <a:solidFill>
                  <a:schemeClr val="accent4">
                    <a:lumMod val="50000"/>
                  </a:schemeClr>
                </a:solidFill>
                <a:latin typeface="Times New Roman" panose="02020603050405020304" pitchFamily="18" charset="0"/>
                <a:cs typeface="Times New Roman" panose="02020603050405020304" pitchFamily="18" charset="0"/>
              </a:rPr>
              <a:t>Computer networks for a game server</a:t>
            </a:r>
          </a:p>
        </p:txBody>
      </p:sp>
      <p:sp>
        <p:nvSpPr>
          <p:cNvPr id="8" name="TextBox 7">
            <a:extLst>
              <a:ext uri="{FF2B5EF4-FFF2-40B4-BE49-F238E27FC236}">
                <a16:creationId xmlns:a16="http://schemas.microsoft.com/office/drawing/2014/main" id="{F2D61488-8849-C491-32F2-2CC6F1CA60B5}"/>
              </a:ext>
            </a:extLst>
          </p:cNvPr>
          <p:cNvSpPr txBox="1"/>
          <p:nvPr/>
        </p:nvSpPr>
        <p:spPr>
          <a:xfrm>
            <a:off x="2417064" y="6068833"/>
            <a:ext cx="7141464" cy="477054"/>
          </a:xfrm>
          <a:prstGeom prst="rect">
            <a:avLst/>
          </a:prstGeom>
          <a:noFill/>
        </p:spPr>
        <p:txBody>
          <a:bodyPr wrap="square" rtlCol="0">
            <a:spAutoFit/>
          </a:bodyPr>
          <a:lstStyle/>
          <a:p>
            <a:r>
              <a:rPr lang="en-US" sz="2500" i="1" dirty="0">
                <a:solidFill>
                  <a:srgbClr val="00B050"/>
                </a:solidFill>
                <a:latin typeface="Times New Roman" panose="02020603050405020304" pitchFamily="18" charset="0"/>
                <a:cs typeface="Times New Roman" panose="02020603050405020304" pitchFamily="18" charset="0"/>
              </a:rPr>
              <a:t>                              </a:t>
            </a:r>
            <a:r>
              <a:rPr lang="en-US" sz="2500" i="1">
                <a:solidFill>
                  <a:srgbClr val="00B050"/>
                </a:solidFill>
                <a:latin typeface="Times New Roman" panose="02020603050405020304" pitchFamily="18" charset="0"/>
                <a:cs typeface="Times New Roman" panose="02020603050405020304" pitchFamily="18" charset="0"/>
              </a:rPr>
              <a:t>Date:26.12.2025</a:t>
            </a:r>
            <a:endParaRPr lang="en-IN" sz="2500" i="1" dirty="0">
              <a:solidFill>
                <a:srgbClr val="00B05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549688B-1ADD-AE68-28E5-71AEDAC8E68D}"/>
              </a:ext>
            </a:extLst>
          </p:cNvPr>
          <p:cNvPicPr>
            <a:picLocks noChangeAspect="1"/>
          </p:cNvPicPr>
          <p:nvPr/>
        </p:nvPicPr>
        <p:blipFill>
          <a:blip r:embed="rId3"/>
          <a:stretch>
            <a:fillRect/>
          </a:stretch>
        </p:blipFill>
        <p:spPr>
          <a:xfrm>
            <a:off x="165860" y="203699"/>
            <a:ext cx="11860280" cy="1228845"/>
          </a:xfrm>
          <a:prstGeom prst="rect">
            <a:avLst/>
          </a:prstGeom>
        </p:spPr>
      </p:pic>
      <p:sp>
        <p:nvSpPr>
          <p:cNvPr id="10" name="TextBox 9">
            <a:extLst>
              <a:ext uri="{FF2B5EF4-FFF2-40B4-BE49-F238E27FC236}">
                <a16:creationId xmlns:a16="http://schemas.microsoft.com/office/drawing/2014/main" id="{DC67D935-2570-FE75-C723-946151E7FA0F}"/>
              </a:ext>
            </a:extLst>
          </p:cNvPr>
          <p:cNvSpPr txBox="1"/>
          <p:nvPr/>
        </p:nvSpPr>
        <p:spPr>
          <a:xfrm>
            <a:off x="9627018" y="3312107"/>
            <a:ext cx="4798243" cy="1877437"/>
          </a:xfrm>
          <a:prstGeom prst="rect">
            <a:avLst/>
          </a:prstGeom>
          <a:noFill/>
        </p:spPr>
        <p:txBody>
          <a:bodyPr wrap="square" rtlCol="0">
            <a:spAutoFit/>
          </a:bodyPr>
          <a:lstStyle/>
          <a:p>
            <a:r>
              <a:rPr lang="en-US" sz="2200" b="1" i="1" dirty="0">
                <a:solidFill>
                  <a:srgbClr val="FF0000"/>
                </a:solidFill>
                <a:latin typeface="Times New Roman" panose="02020603050405020304" pitchFamily="18" charset="0"/>
                <a:cs typeface="Times New Roman" panose="02020603050405020304" pitchFamily="18" charset="0"/>
              </a:rPr>
              <a:t>Guide name : </a:t>
            </a:r>
          </a:p>
          <a:p>
            <a:endParaRPr lang="en-US" sz="2200" b="1" i="1" dirty="0">
              <a:solidFill>
                <a:srgbClr val="FF0000"/>
              </a:solidFill>
              <a:latin typeface="Times New Roman" panose="02020603050405020304" pitchFamily="18" charset="0"/>
              <a:cs typeface="Times New Roman" panose="02020603050405020304" pitchFamily="18" charset="0"/>
            </a:endParaRPr>
          </a:p>
          <a:p>
            <a:r>
              <a:rPr lang="en-US" sz="2400" b="1" i="1" dirty="0">
                <a:solidFill>
                  <a:srgbClr val="002060"/>
                </a:solidFill>
                <a:latin typeface="Times New Roman" panose="02020603050405020304" pitchFamily="18" charset="0"/>
                <a:cs typeface="Times New Roman" panose="02020603050405020304" pitchFamily="18" charset="0"/>
              </a:rPr>
              <a:t>Dr </a:t>
            </a:r>
            <a:r>
              <a:rPr lang="en-US" sz="2400" b="1" i="1" dirty="0" err="1">
                <a:solidFill>
                  <a:srgbClr val="002060"/>
                </a:solidFill>
                <a:latin typeface="Times New Roman" panose="02020603050405020304" pitchFamily="18" charset="0"/>
                <a:cs typeface="Times New Roman" panose="02020603050405020304" pitchFamily="18" charset="0"/>
              </a:rPr>
              <a:t>senthil</a:t>
            </a:r>
            <a:endParaRPr lang="en-US" sz="2200" b="1" i="1" dirty="0">
              <a:solidFill>
                <a:srgbClr val="FF0000"/>
              </a:solidFill>
              <a:latin typeface="Times New Roman" panose="02020603050405020304" pitchFamily="18" charset="0"/>
              <a:cs typeface="Times New Roman" panose="02020603050405020304" pitchFamily="18" charset="0"/>
            </a:endParaRPr>
          </a:p>
          <a:p>
            <a:r>
              <a:rPr lang="en-US" sz="2400" b="1" i="1" dirty="0">
                <a:solidFill>
                  <a:srgbClr val="002060"/>
                </a:solidFill>
                <a:latin typeface="Times New Roman" panose="02020603050405020304" pitchFamily="18" charset="0"/>
                <a:cs typeface="Times New Roman" panose="02020603050405020304" pitchFamily="18" charset="0"/>
              </a:rPr>
              <a:t>Dr Raja ram</a:t>
            </a:r>
          </a:p>
          <a:p>
            <a:r>
              <a:rPr lang="en-US" sz="2400" b="1" i="1" dirty="0">
                <a:solidFill>
                  <a:srgbClr val="002060"/>
                </a:solidFill>
                <a:latin typeface="Times New Roman" panose="02020603050405020304" pitchFamily="18" charset="0"/>
                <a:cs typeface="Times New Roman" panose="02020603050405020304" pitchFamily="18" charset="0"/>
              </a:rPr>
              <a:t> </a:t>
            </a:r>
            <a:endParaRPr lang="en-IN" sz="2400" b="1" i="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38064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083425FE-9178-4214-86E1-08379901E46A}"/>
              </a:ext>
            </a:extLst>
          </p:cNvPr>
          <p:cNvPicPr>
            <a:picLocks noChangeAspect="1"/>
          </p:cNvPicPr>
          <p:nvPr/>
        </p:nvPicPr>
        <p:blipFill>
          <a:blip r:embed="rId2"/>
          <a:stretch>
            <a:fillRect/>
          </a:stretch>
        </p:blipFill>
        <p:spPr>
          <a:xfrm>
            <a:off x="210667" y="191626"/>
            <a:ext cx="1135116" cy="1342883"/>
          </a:xfrm>
          <a:prstGeom prst="rect">
            <a:avLst/>
          </a:prstGeom>
        </p:spPr>
      </p:pic>
      <p:pic>
        <p:nvPicPr>
          <p:cNvPr id="3" name="picture 4">
            <a:extLst>
              <a:ext uri="{FF2B5EF4-FFF2-40B4-BE49-F238E27FC236}">
                <a16:creationId xmlns:a16="http://schemas.microsoft.com/office/drawing/2014/main" id="{F9ED629E-46C8-70F4-0F34-CE28C1BD7F39}"/>
              </a:ext>
            </a:extLst>
          </p:cNvPr>
          <p:cNvPicPr>
            <a:picLocks noChangeAspect="1"/>
          </p:cNvPicPr>
          <p:nvPr/>
        </p:nvPicPr>
        <p:blipFill>
          <a:blip r:embed="rId3"/>
          <a:stretch>
            <a:fillRect/>
          </a:stretch>
        </p:blipFill>
        <p:spPr>
          <a:xfrm>
            <a:off x="10514231" y="191626"/>
            <a:ext cx="1520114" cy="1342883"/>
          </a:xfrm>
          <a:prstGeom prst="rect">
            <a:avLst/>
          </a:prstGeom>
        </p:spPr>
      </p:pic>
      <p:graphicFrame>
        <p:nvGraphicFramePr>
          <p:cNvPr id="4" name="Table 3">
            <a:extLst>
              <a:ext uri="{FF2B5EF4-FFF2-40B4-BE49-F238E27FC236}">
                <a16:creationId xmlns:a16="http://schemas.microsoft.com/office/drawing/2014/main" id="{18D88E48-38EB-879C-B4A4-EA3C8EB8164C}"/>
              </a:ext>
            </a:extLst>
          </p:cNvPr>
          <p:cNvGraphicFramePr>
            <a:graphicFrameLocks noGrp="1"/>
          </p:cNvGraphicFramePr>
          <p:nvPr>
            <p:extLst>
              <p:ext uri="{D42A27DB-BD31-4B8C-83A1-F6EECF244321}">
                <p14:modId xmlns:p14="http://schemas.microsoft.com/office/powerpoint/2010/main" val="424361920"/>
              </p:ext>
            </p:extLst>
          </p:nvPr>
        </p:nvGraphicFramePr>
        <p:xfrm>
          <a:off x="500332" y="1534509"/>
          <a:ext cx="11240219" cy="5221896"/>
        </p:xfrm>
        <a:graphic>
          <a:graphicData uri="http://schemas.openxmlformats.org/drawingml/2006/table">
            <a:tbl>
              <a:tblPr firstRow="1" bandRow="1">
                <a:tableStyleId>{5940675A-B579-460E-94D1-54222C63F5DA}</a:tableStyleId>
              </a:tblPr>
              <a:tblGrid>
                <a:gridCol w="2332934">
                  <a:extLst>
                    <a:ext uri="{9D8B030D-6E8A-4147-A177-3AD203B41FA5}">
                      <a16:colId xmlns:a16="http://schemas.microsoft.com/office/drawing/2014/main" val="20000"/>
                    </a:ext>
                  </a:extLst>
                </a:gridCol>
                <a:gridCol w="8907285">
                  <a:extLst>
                    <a:ext uri="{9D8B030D-6E8A-4147-A177-3AD203B41FA5}">
                      <a16:colId xmlns:a16="http://schemas.microsoft.com/office/drawing/2014/main" val="20001"/>
                    </a:ext>
                  </a:extLst>
                </a:gridCol>
              </a:tblGrid>
              <a:tr h="435158">
                <a:tc>
                  <a:txBody>
                    <a:bodyPr/>
                    <a:lstStyle/>
                    <a:p>
                      <a:pPr algn="ctr"/>
                      <a:r>
                        <a:rPr lang="en-US" dirty="0">
                          <a:latin typeface="Times New Roman" panose="02020603050405020304" pitchFamily="18" charset="0"/>
                          <a:cs typeface="Times New Roman" panose="02020603050405020304" pitchFamily="18" charset="0"/>
                        </a:rPr>
                        <a:t>S.NO</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TITLES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435158">
                <a:tc>
                  <a:txBody>
                    <a:bodyPr/>
                    <a:lstStyle/>
                    <a:p>
                      <a:pPr algn="ctr"/>
                      <a:r>
                        <a:rPr lang="en-US" dirty="0">
                          <a:latin typeface="Times New Roman" panose="02020603050405020304" pitchFamily="18" charset="0"/>
                          <a:cs typeface="Times New Roman" panose="02020603050405020304" pitchFamily="18" charset="0"/>
                        </a:rPr>
                        <a:t>1.</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INTRODUCTION</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435158">
                <a:tc>
                  <a:txBody>
                    <a:bodyPr/>
                    <a:lstStyle/>
                    <a:p>
                      <a:pPr algn="ctr"/>
                      <a:r>
                        <a:rPr lang="en-US" dirty="0">
                          <a:latin typeface="Times New Roman" panose="02020603050405020304" pitchFamily="18" charset="0"/>
                          <a:cs typeface="Times New Roman" panose="02020603050405020304" pitchFamily="18" charset="0"/>
                        </a:rPr>
                        <a:t>2.</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altLang="en-IN" dirty="0">
                          <a:latin typeface="Times New Roman" panose="02020603050405020304" pitchFamily="18" charset="0"/>
                          <a:cs typeface="Times New Roman" panose="02020603050405020304" pitchFamily="18" charset="0"/>
                        </a:rPr>
                        <a:t>OBJECTIVE</a:t>
                      </a:r>
                    </a:p>
                  </a:txBody>
                  <a:tcPr/>
                </a:tc>
                <a:extLst>
                  <a:ext uri="{0D108BD9-81ED-4DB2-BD59-A6C34878D82A}">
                    <a16:rowId xmlns:a16="http://schemas.microsoft.com/office/drawing/2014/main" val="10002"/>
                  </a:ext>
                </a:extLst>
              </a:tr>
              <a:tr h="435158">
                <a:tc>
                  <a:txBody>
                    <a:bodyPr/>
                    <a:lstStyle/>
                    <a:p>
                      <a:pPr algn="ctr"/>
                      <a:r>
                        <a:rPr lang="en-US" dirty="0">
                          <a:latin typeface="Times New Roman" panose="02020603050405020304" pitchFamily="18" charset="0"/>
                          <a:cs typeface="Times New Roman" panose="02020603050405020304" pitchFamily="18" charset="0"/>
                        </a:rPr>
                        <a:t>3.</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altLang="en-IN" dirty="0">
                          <a:latin typeface="Times New Roman" panose="02020603050405020304" pitchFamily="18" charset="0"/>
                          <a:cs typeface="Times New Roman" panose="02020603050405020304" pitchFamily="18" charset="0"/>
                        </a:rPr>
                        <a:t>LITERATURE REVIEW</a:t>
                      </a:r>
                    </a:p>
                  </a:txBody>
                  <a:tcPr/>
                </a:tc>
                <a:extLst>
                  <a:ext uri="{0D108BD9-81ED-4DB2-BD59-A6C34878D82A}">
                    <a16:rowId xmlns:a16="http://schemas.microsoft.com/office/drawing/2014/main" val="10003"/>
                  </a:ext>
                </a:extLst>
              </a:tr>
              <a:tr h="435158">
                <a:tc>
                  <a:txBody>
                    <a:bodyPr/>
                    <a:lstStyle/>
                    <a:p>
                      <a:pPr algn="ctr"/>
                      <a:r>
                        <a:rPr lang="en-US" dirty="0">
                          <a:latin typeface="Times New Roman" panose="02020603050405020304" pitchFamily="18" charset="0"/>
                          <a:cs typeface="Times New Roman" panose="02020603050405020304" pitchFamily="18" charset="0"/>
                        </a:rPr>
                        <a:t>4.</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altLang="en-IN" dirty="0">
                          <a:latin typeface="Times New Roman" panose="02020603050405020304" pitchFamily="18" charset="0"/>
                          <a:cs typeface="Times New Roman" panose="02020603050405020304" pitchFamily="18" charset="0"/>
                        </a:rPr>
                        <a:t>METHODOLOGY</a:t>
                      </a:r>
                    </a:p>
                  </a:txBody>
                  <a:tcPr/>
                </a:tc>
                <a:extLst>
                  <a:ext uri="{0D108BD9-81ED-4DB2-BD59-A6C34878D82A}">
                    <a16:rowId xmlns:a16="http://schemas.microsoft.com/office/drawing/2014/main" val="10004"/>
                  </a:ext>
                </a:extLst>
              </a:tr>
              <a:tr h="435158">
                <a:tc>
                  <a:txBody>
                    <a:bodyPr/>
                    <a:lstStyle/>
                    <a:p>
                      <a:pPr algn="ctr"/>
                      <a:r>
                        <a:rPr lang="en-US" dirty="0">
                          <a:latin typeface="Times New Roman" panose="02020603050405020304" pitchFamily="18" charset="0"/>
                          <a:cs typeface="Times New Roman" panose="02020603050405020304" pitchFamily="18" charset="0"/>
                        </a:rPr>
                        <a:t>5.</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altLang="en-IN" dirty="0">
                          <a:latin typeface="Times New Roman" panose="02020603050405020304" pitchFamily="18" charset="0"/>
                          <a:cs typeface="Times New Roman" panose="02020603050405020304" pitchFamily="18" charset="0"/>
                        </a:rPr>
                        <a:t>SYSTEM DESIGN/ARCHITECTURE</a:t>
                      </a:r>
                    </a:p>
                  </a:txBody>
                  <a:tcPr/>
                </a:tc>
                <a:extLst>
                  <a:ext uri="{0D108BD9-81ED-4DB2-BD59-A6C34878D82A}">
                    <a16:rowId xmlns:a16="http://schemas.microsoft.com/office/drawing/2014/main" val="10005"/>
                  </a:ext>
                </a:extLst>
              </a:tr>
              <a:tr h="435158">
                <a:tc>
                  <a:txBody>
                    <a:bodyPr/>
                    <a:lstStyle/>
                    <a:p>
                      <a:pPr algn="ctr"/>
                      <a:r>
                        <a:rPr lang="en-US" dirty="0">
                          <a:latin typeface="Times New Roman" panose="02020603050405020304" pitchFamily="18" charset="0"/>
                          <a:cs typeface="Times New Roman" panose="02020603050405020304" pitchFamily="18" charset="0"/>
                        </a:rPr>
                        <a:t>6.</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altLang="en-IN" dirty="0">
                          <a:latin typeface="Times New Roman" panose="02020603050405020304" pitchFamily="18" charset="0"/>
                          <a:cs typeface="Times New Roman" panose="02020603050405020304" pitchFamily="18" charset="0"/>
                        </a:rPr>
                        <a:t>MODULES</a:t>
                      </a:r>
                    </a:p>
                  </a:txBody>
                  <a:tcPr/>
                </a:tc>
                <a:extLst>
                  <a:ext uri="{0D108BD9-81ED-4DB2-BD59-A6C34878D82A}">
                    <a16:rowId xmlns:a16="http://schemas.microsoft.com/office/drawing/2014/main" val="10006"/>
                  </a:ext>
                </a:extLst>
              </a:tr>
              <a:tr h="435158">
                <a:tc>
                  <a:txBody>
                    <a:bodyPr/>
                    <a:lstStyle/>
                    <a:p>
                      <a:pPr algn="ctr"/>
                      <a:r>
                        <a:rPr lang="en-US" dirty="0">
                          <a:latin typeface="Times New Roman" panose="02020603050405020304" pitchFamily="18" charset="0"/>
                          <a:cs typeface="Times New Roman" panose="02020603050405020304" pitchFamily="18" charset="0"/>
                        </a:rPr>
                        <a:t>7.</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altLang="en-IN" dirty="0">
                          <a:latin typeface="Times New Roman" panose="02020603050405020304" pitchFamily="18" charset="0"/>
                          <a:cs typeface="Times New Roman" panose="02020603050405020304" pitchFamily="18" charset="0"/>
                        </a:rPr>
                        <a:t>RESULTS &amp; DISCUSSION</a:t>
                      </a:r>
                    </a:p>
                  </a:txBody>
                  <a:tcPr/>
                </a:tc>
                <a:extLst>
                  <a:ext uri="{0D108BD9-81ED-4DB2-BD59-A6C34878D82A}">
                    <a16:rowId xmlns:a16="http://schemas.microsoft.com/office/drawing/2014/main" val="10007"/>
                  </a:ext>
                </a:extLst>
              </a:tr>
              <a:tr h="435158">
                <a:tc>
                  <a:txBody>
                    <a:bodyPr/>
                    <a:lstStyle/>
                    <a:p>
                      <a:pPr algn="ctr"/>
                      <a:r>
                        <a:rPr lang="en-US" dirty="0">
                          <a:latin typeface="Times New Roman" panose="02020603050405020304" pitchFamily="18" charset="0"/>
                          <a:cs typeface="Times New Roman" panose="02020603050405020304" pitchFamily="18" charset="0"/>
                        </a:rPr>
                        <a:t>8.</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altLang="en-IN" dirty="0">
                          <a:latin typeface="Times New Roman" panose="02020603050405020304" pitchFamily="18" charset="0"/>
                          <a:cs typeface="Times New Roman" panose="02020603050405020304" pitchFamily="18" charset="0"/>
                        </a:rPr>
                        <a:t>CHALLENGES &amp; LIMITATIONS</a:t>
                      </a:r>
                    </a:p>
                  </a:txBody>
                  <a:tcPr/>
                </a:tc>
                <a:extLst>
                  <a:ext uri="{0D108BD9-81ED-4DB2-BD59-A6C34878D82A}">
                    <a16:rowId xmlns:a16="http://schemas.microsoft.com/office/drawing/2014/main" val="10008"/>
                  </a:ext>
                </a:extLst>
              </a:tr>
              <a:tr h="435158">
                <a:tc>
                  <a:txBody>
                    <a:bodyPr/>
                    <a:lstStyle/>
                    <a:p>
                      <a:pPr algn="ctr"/>
                      <a:r>
                        <a:rPr lang="en-US" dirty="0">
                          <a:latin typeface="Times New Roman" panose="02020603050405020304" pitchFamily="18" charset="0"/>
                          <a:cs typeface="Times New Roman" panose="02020603050405020304" pitchFamily="18" charset="0"/>
                        </a:rPr>
                        <a:t>9.</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altLang="en-IN" dirty="0">
                          <a:latin typeface="Times New Roman" panose="02020603050405020304" pitchFamily="18" charset="0"/>
                          <a:cs typeface="Times New Roman" panose="02020603050405020304" pitchFamily="18" charset="0"/>
                        </a:rPr>
                        <a:t>FUTURE SCOPE</a:t>
                      </a:r>
                    </a:p>
                  </a:txBody>
                  <a:tcPr/>
                </a:tc>
                <a:extLst>
                  <a:ext uri="{0D108BD9-81ED-4DB2-BD59-A6C34878D82A}">
                    <a16:rowId xmlns:a16="http://schemas.microsoft.com/office/drawing/2014/main" val="10009"/>
                  </a:ext>
                </a:extLst>
              </a:tr>
              <a:tr h="435158">
                <a:tc>
                  <a:txBody>
                    <a:bodyPr/>
                    <a:lstStyle/>
                    <a:p>
                      <a:pPr algn="ctr"/>
                      <a:r>
                        <a:rPr lang="en-US" dirty="0">
                          <a:latin typeface="Times New Roman" panose="02020603050405020304" pitchFamily="18" charset="0"/>
                          <a:cs typeface="Times New Roman" panose="02020603050405020304" pitchFamily="18" charset="0"/>
                        </a:rPr>
                        <a:t>10.</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CONCLUSION </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10"/>
                  </a:ext>
                </a:extLst>
              </a:tr>
              <a:tr h="435158">
                <a:tc>
                  <a:txBody>
                    <a:bodyPr/>
                    <a:lstStyle/>
                    <a:p>
                      <a:pPr algn="ctr"/>
                      <a:r>
                        <a:rPr lang="en-US" dirty="0">
                          <a:latin typeface="Times New Roman" panose="02020603050405020304" pitchFamily="18" charset="0"/>
                          <a:cs typeface="Times New Roman" panose="02020603050405020304" pitchFamily="18" charset="0"/>
                        </a:rPr>
                        <a:t>11.</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REFERENCES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11"/>
                  </a:ext>
                </a:extLst>
              </a:tr>
            </a:tbl>
          </a:graphicData>
        </a:graphic>
      </p:graphicFrame>
      <p:sp>
        <p:nvSpPr>
          <p:cNvPr id="6" name="TextBox 5">
            <a:extLst>
              <a:ext uri="{FF2B5EF4-FFF2-40B4-BE49-F238E27FC236}">
                <a16:creationId xmlns:a16="http://schemas.microsoft.com/office/drawing/2014/main" id="{011F7709-215B-E23C-93E3-AC8A15F6EE67}"/>
              </a:ext>
            </a:extLst>
          </p:cNvPr>
          <p:cNvSpPr txBox="1"/>
          <p:nvPr/>
        </p:nvSpPr>
        <p:spPr>
          <a:xfrm>
            <a:off x="3824379" y="586069"/>
            <a:ext cx="5930900" cy="553998"/>
          </a:xfrm>
          <a:prstGeom prst="rect">
            <a:avLst/>
          </a:prstGeom>
          <a:noFill/>
        </p:spPr>
        <p:txBody>
          <a:bodyPr wrap="square" rtlCol="0">
            <a:spAutoFit/>
          </a:bodyPr>
          <a:lstStyle/>
          <a:p>
            <a:r>
              <a:rPr lang="en-US" sz="3000" b="1" dirty="0">
                <a:solidFill>
                  <a:schemeClr val="tx2"/>
                </a:solidFill>
                <a:latin typeface="Times New Roman" panose="02020603050405020304" pitchFamily="18" charset="0"/>
                <a:cs typeface="Times New Roman" panose="02020603050405020304" pitchFamily="18" charset="0"/>
              </a:rPr>
              <a:t>TABLE OF CONTENT</a:t>
            </a:r>
            <a:endParaRPr lang="en-IN" sz="3000" b="1" dirty="0">
              <a:solidFill>
                <a:schemeClr val="tx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76760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0516F-4221-9C56-DA5D-8C4B23524736}"/>
            </a:ext>
          </a:extLst>
        </p:cNvPr>
        <p:cNvGrpSpPr/>
        <p:nvPr/>
      </p:nvGrpSpPr>
      <p:grpSpPr>
        <a:xfrm>
          <a:off x="0" y="0"/>
          <a:ext cx="0" cy="0"/>
          <a:chOff x="0" y="0"/>
          <a:chExt cx="0" cy="0"/>
        </a:xfrm>
      </p:grpSpPr>
      <p:pic>
        <p:nvPicPr>
          <p:cNvPr id="2" name="picture 6">
            <a:extLst>
              <a:ext uri="{FF2B5EF4-FFF2-40B4-BE49-F238E27FC236}">
                <a16:creationId xmlns:a16="http://schemas.microsoft.com/office/drawing/2014/main" id="{6BDAB01E-A5A1-77BB-295B-67165DAE6E75}"/>
              </a:ext>
            </a:extLst>
          </p:cNvPr>
          <p:cNvPicPr>
            <a:picLocks noChangeAspect="1"/>
          </p:cNvPicPr>
          <p:nvPr/>
        </p:nvPicPr>
        <p:blipFill>
          <a:blip r:embed="rId2"/>
          <a:stretch>
            <a:fillRect/>
          </a:stretch>
        </p:blipFill>
        <p:spPr>
          <a:xfrm>
            <a:off x="210667" y="191626"/>
            <a:ext cx="1135116" cy="1342883"/>
          </a:xfrm>
          <a:prstGeom prst="rect">
            <a:avLst/>
          </a:prstGeom>
        </p:spPr>
      </p:pic>
      <p:pic>
        <p:nvPicPr>
          <p:cNvPr id="3" name="picture 4">
            <a:extLst>
              <a:ext uri="{FF2B5EF4-FFF2-40B4-BE49-F238E27FC236}">
                <a16:creationId xmlns:a16="http://schemas.microsoft.com/office/drawing/2014/main" id="{0D8CEF2F-B673-5170-6C8C-1EEF28B6EEB1}"/>
              </a:ext>
            </a:extLst>
          </p:cNvPr>
          <p:cNvPicPr>
            <a:picLocks noChangeAspect="1"/>
          </p:cNvPicPr>
          <p:nvPr/>
        </p:nvPicPr>
        <p:blipFill>
          <a:blip r:embed="rId3"/>
          <a:stretch>
            <a:fillRect/>
          </a:stretch>
        </p:blipFill>
        <p:spPr>
          <a:xfrm>
            <a:off x="10514231" y="191626"/>
            <a:ext cx="1520114" cy="1342883"/>
          </a:xfrm>
          <a:prstGeom prst="rect">
            <a:avLst/>
          </a:prstGeom>
        </p:spPr>
      </p:pic>
      <p:sp>
        <p:nvSpPr>
          <p:cNvPr id="4" name="Rectangle 1">
            <a:extLst>
              <a:ext uri="{FF2B5EF4-FFF2-40B4-BE49-F238E27FC236}">
                <a16:creationId xmlns:a16="http://schemas.microsoft.com/office/drawing/2014/main" id="{987F42E8-9DC1-2951-DAB5-194FA87D402B}"/>
              </a:ext>
            </a:extLst>
          </p:cNvPr>
          <p:cNvSpPr>
            <a:spLocks noChangeArrowheads="1"/>
          </p:cNvSpPr>
          <p:nvPr/>
        </p:nvSpPr>
        <p:spPr bwMode="auto">
          <a:xfrm rot="10800000" flipV="1">
            <a:off x="308009" y="2342231"/>
            <a:ext cx="11533471"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 secure email system using SMTP with SSL/TLS helps overcome the weaknesses of traditional email systems that send messages in plain text. In normal email transmission, messages can be easily intercepted or read by unauthorized users. By applying SSL/TLS encryption, emails are converted into a secure format, making them unreadable to hackers and protecting sensitive information from cyberattacks and data leaks.</a:t>
            </a:r>
          </a:p>
          <a:p>
            <a:pPr marL="342900" indent="-342900">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This secure method also ensures that the email content is not altered during transmission and reaches the recipient safely. It provides a reliable and trustworthy way for users to communicate in the digital world. Overall, using SMTP over SSL/TLS improves email security, protects privacy, and allows people to exchange information confidently and safely.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34367DA-9316-207B-0CB5-86D94A45FAE5}"/>
              </a:ext>
            </a:extLst>
          </p:cNvPr>
          <p:cNvSpPr txBox="1"/>
          <p:nvPr/>
        </p:nvSpPr>
        <p:spPr>
          <a:xfrm>
            <a:off x="3798488" y="454761"/>
            <a:ext cx="4918510" cy="553998"/>
          </a:xfrm>
          <a:prstGeom prst="rect">
            <a:avLst/>
          </a:prstGeom>
          <a:noFill/>
        </p:spPr>
        <p:txBody>
          <a:bodyPr wrap="square" rtlCol="0">
            <a:spAutoFit/>
          </a:bodyPr>
          <a:lstStyle/>
          <a:p>
            <a:r>
              <a:rPr lang="en-US" sz="3000" b="1" dirty="0">
                <a:solidFill>
                  <a:schemeClr val="tx2">
                    <a:lumMod val="90000"/>
                    <a:lumOff val="10000"/>
                  </a:schemeClr>
                </a:solidFill>
                <a:latin typeface="Times New Roman" panose="02020603050405020304" pitchFamily="18" charset="0"/>
                <a:cs typeface="Times New Roman" panose="02020603050405020304" pitchFamily="18" charset="0"/>
              </a:rPr>
              <a:t>INTRODUCTION</a:t>
            </a:r>
            <a:endParaRPr lang="en-IN" sz="3000" b="1" dirty="0">
              <a:solidFill>
                <a:schemeClr val="tx2">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8847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CC23793D-2458-639F-B5D6-7D068FB0E302}"/>
              </a:ext>
            </a:extLst>
          </p:cNvPr>
          <p:cNvPicPr>
            <a:picLocks noChangeAspect="1"/>
          </p:cNvPicPr>
          <p:nvPr/>
        </p:nvPicPr>
        <p:blipFill>
          <a:blip r:embed="rId2"/>
          <a:stretch>
            <a:fillRect/>
          </a:stretch>
        </p:blipFill>
        <p:spPr>
          <a:xfrm>
            <a:off x="210667" y="191626"/>
            <a:ext cx="1135116" cy="1342883"/>
          </a:xfrm>
          <a:prstGeom prst="rect">
            <a:avLst/>
          </a:prstGeom>
        </p:spPr>
      </p:pic>
      <p:pic>
        <p:nvPicPr>
          <p:cNvPr id="3" name="picture 4">
            <a:extLst>
              <a:ext uri="{FF2B5EF4-FFF2-40B4-BE49-F238E27FC236}">
                <a16:creationId xmlns:a16="http://schemas.microsoft.com/office/drawing/2014/main" id="{B299EFA8-C038-DF67-7973-98EA0971AF5E}"/>
              </a:ext>
            </a:extLst>
          </p:cNvPr>
          <p:cNvPicPr>
            <a:picLocks noChangeAspect="1"/>
          </p:cNvPicPr>
          <p:nvPr/>
        </p:nvPicPr>
        <p:blipFill>
          <a:blip r:embed="rId3"/>
          <a:stretch>
            <a:fillRect/>
          </a:stretch>
        </p:blipFill>
        <p:spPr>
          <a:xfrm>
            <a:off x="10514231" y="191626"/>
            <a:ext cx="1520114" cy="1342883"/>
          </a:xfrm>
          <a:prstGeom prst="rect">
            <a:avLst/>
          </a:prstGeom>
        </p:spPr>
      </p:pic>
      <p:sp>
        <p:nvSpPr>
          <p:cNvPr id="5" name="TextBox 4">
            <a:extLst>
              <a:ext uri="{FF2B5EF4-FFF2-40B4-BE49-F238E27FC236}">
                <a16:creationId xmlns:a16="http://schemas.microsoft.com/office/drawing/2014/main" id="{F70FA505-F794-76D6-53ED-C0217DAFBE03}"/>
              </a:ext>
            </a:extLst>
          </p:cNvPr>
          <p:cNvSpPr txBox="1"/>
          <p:nvPr/>
        </p:nvSpPr>
        <p:spPr>
          <a:xfrm>
            <a:off x="210667" y="1936845"/>
            <a:ext cx="11515344" cy="4508927"/>
          </a:xfrm>
          <a:prstGeom prst="rect">
            <a:avLst/>
          </a:prstGeom>
          <a:noFill/>
        </p:spPr>
        <p:txBody>
          <a:bodyPr wrap="square">
            <a:spAutoFit/>
          </a:bodyPr>
          <a:lstStyle/>
          <a:p>
            <a:r>
              <a:rPr lang="en-US" sz="2200" b="1" dirty="0">
                <a:latin typeface="Times New Roman" panose="02020603050405020304" pitchFamily="18" charset="0"/>
                <a:cs typeface="Times New Roman" panose="02020603050405020304" pitchFamily="18" charset="0"/>
              </a:rPr>
              <a:t> 1.</a:t>
            </a:r>
            <a:r>
              <a:rPr lang="en-US" sz="2200" dirty="0">
                <a:latin typeface="Times New Roman" panose="02020603050405020304" pitchFamily="18" charset="0"/>
                <a:cs typeface="Times New Roman" panose="02020603050405020304" pitchFamily="18" charset="0"/>
              </a:rPr>
              <a:t> Identify and define the security needs for encrypted email transmission.</a:t>
            </a:r>
          </a:p>
          <a:p>
            <a:br>
              <a:rPr lang="en-US" sz="2200" dirty="0">
                <a:latin typeface="Times New Roman" panose="02020603050405020304" pitchFamily="18" charset="0"/>
                <a:cs typeface="Times New Roman" panose="02020603050405020304" pitchFamily="18" charset="0"/>
              </a:rPr>
            </a:br>
            <a:r>
              <a:rPr lang="en-US" sz="2200" b="1" dirty="0">
                <a:latin typeface="Times New Roman" panose="02020603050405020304" pitchFamily="18" charset="0"/>
                <a:cs typeface="Times New Roman" panose="02020603050405020304" pitchFamily="18" charset="0"/>
              </a:rPr>
              <a:t> 2.</a:t>
            </a:r>
            <a:r>
              <a:rPr lang="en-US" sz="2200" dirty="0">
                <a:latin typeface="Times New Roman" panose="02020603050405020304" pitchFamily="18" charset="0"/>
                <a:cs typeface="Times New Roman" panose="02020603050405020304" pitchFamily="18" charset="0"/>
              </a:rPr>
              <a:t> Configure SMTP to use SSL/TLS for creating a secure communication channel.</a:t>
            </a:r>
          </a:p>
          <a:p>
            <a:br>
              <a:rPr lang="en-US" sz="2200" dirty="0">
                <a:latin typeface="Times New Roman" panose="02020603050405020304" pitchFamily="18" charset="0"/>
                <a:cs typeface="Times New Roman" panose="02020603050405020304" pitchFamily="18" charset="0"/>
              </a:rPr>
            </a:br>
            <a:r>
              <a:rPr lang="en-US" sz="2200" b="1" dirty="0">
                <a:latin typeface="Times New Roman" panose="02020603050405020304" pitchFamily="18" charset="0"/>
                <a:cs typeface="Times New Roman" panose="02020603050405020304" pitchFamily="18" charset="0"/>
              </a:rPr>
              <a:t> 3.</a:t>
            </a:r>
            <a:r>
              <a:rPr lang="en-US" sz="2200" dirty="0">
                <a:latin typeface="Times New Roman" panose="02020603050405020304" pitchFamily="18" charset="0"/>
                <a:cs typeface="Times New Roman" panose="02020603050405020304" pitchFamily="18" charset="0"/>
              </a:rPr>
              <a:t> Implement secure user authentication methods to validate sender and receiver identities.</a:t>
            </a:r>
          </a:p>
          <a:p>
            <a:br>
              <a:rPr lang="en-US" sz="2200" dirty="0">
                <a:latin typeface="Times New Roman" panose="02020603050405020304" pitchFamily="18" charset="0"/>
                <a:cs typeface="Times New Roman" panose="02020603050405020304" pitchFamily="18" charset="0"/>
              </a:rPr>
            </a:br>
            <a:r>
              <a:rPr lang="en-US" sz="2200" b="1" dirty="0">
                <a:latin typeface="Times New Roman" panose="02020603050405020304" pitchFamily="18" charset="0"/>
                <a:cs typeface="Times New Roman" panose="02020603050405020304" pitchFamily="18" charset="0"/>
              </a:rPr>
              <a:t> 4.</a:t>
            </a:r>
            <a:r>
              <a:rPr lang="en-US" sz="2200" dirty="0">
                <a:latin typeface="Times New Roman" panose="02020603050405020304" pitchFamily="18" charset="0"/>
                <a:cs typeface="Times New Roman" panose="02020603050405020304" pitchFamily="18" charset="0"/>
              </a:rPr>
              <a:t> Install and manage SSL/TLS certificates to ensure trusted server verification.</a:t>
            </a:r>
          </a:p>
          <a:p>
            <a:br>
              <a:rPr lang="en-US" sz="2200" dirty="0">
                <a:latin typeface="Times New Roman" panose="02020603050405020304" pitchFamily="18" charset="0"/>
                <a:cs typeface="Times New Roman" panose="02020603050405020304" pitchFamily="18" charset="0"/>
              </a:rPr>
            </a:br>
            <a:r>
              <a:rPr lang="en-US" sz="2200" b="1" dirty="0">
                <a:latin typeface="Times New Roman" panose="02020603050405020304" pitchFamily="18" charset="0"/>
                <a:cs typeface="Times New Roman" panose="02020603050405020304" pitchFamily="18" charset="0"/>
              </a:rPr>
              <a:t> 5.</a:t>
            </a:r>
            <a:r>
              <a:rPr lang="en-US" sz="2200" dirty="0">
                <a:latin typeface="Times New Roman" panose="02020603050405020304" pitchFamily="18" charset="0"/>
                <a:cs typeface="Times New Roman" panose="02020603050405020304" pitchFamily="18" charset="0"/>
              </a:rPr>
              <a:t> Encrypt email data during transmission to prevent interception or tampering.</a:t>
            </a:r>
          </a:p>
          <a:p>
            <a:br>
              <a:rPr lang="en-US" sz="2200" dirty="0">
                <a:latin typeface="Times New Roman" panose="02020603050405020304" pitchFamily="18" charset="0"/>
                <a:cs typeface="Times New Roman" panose="02020603050405020304" pitchFamily="18" charset="0"/>
              </a:rPr>
            </a:br>
            <a:r>
              <a:rPr lang="en-US" sz="2200" b="1" dirty="0">
                <a:latin typeface="Times New Roman" panose="02020603050405020304" pitchFamily="18" charset="0"/>
                <a:cs typeface="Times New Roman" panose="02020603050405020304" pitchFamily="18" charset="0"/>
              </a:rPr>
              <a:t> 6.</a:t>
            </a:r>
            <a:r>
              <a:rPr lang="en-US" sz="2200" dirty="0">
                <a:latin typeface="Times New Roman" panose="02020603050405020304" pitchFamily="18" charset="0"/>
                <a:cs typeface="Times New Roman" panose="02020603050405020304" pitchFamily="18" charset="0"/>
              </a:rPr>
              <a:t> Test the system for security strength, certificate validity, and reliable transmission.</a:t>
            </a:r>
          </a:p>
          <a:p>
            <a:br>
              <a:rPr lang="en-US" sz="2200" dirty="0">
                <a:latin typeface="Times New Roman" panose="02020603050405020304" pitchFamily="18" charset="0"/>
                <a:cs typeface="Times New Roman" panose="02020603050405020304" pitchFamily="18" charset="0"/>
              </a:rPr>
            </a:br>
            <a:r>
              <a:rPr lang="en-US" sz="2200" b="1" dirty="0">
                <a:latin typeface="Times New Roman" panose="02020603050405020304" pitchFamily="18" charset="0"/>
                <a:cs typeface="Times New Roman" panose="02020603050405020304" pitchFamily="18" charset="0"/>
              </a:rPr>
              <a:t> 7.</a:t>
            </a:r>
            <a:r>
              <a:rPr lang="en-US" sz="2200" dirty="0">
                <a:latin typeface="Times New Roman" panose="02020603050405020304" pitchFamily="18" charset="0"/>
                <a:cs typeface="Times New Roman" panose="02020603050405020304" pitchFamily="18" charset="0"/>
              </a:rPr>
              <a:t> Deploy the encrypted email system and continuously monitor its performance and security. </a:t>
            </a:r>
            <a:endParaRPr lang="en-IN" sz="22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D31F8375-FCEF-9E63-C6EA-7072B4422FE3}"/>
              </a:ext>
            </a:extLst>
          </p:cNvPr>
          <p:cNvSpPr txBox="1"/>
          <p:nvPr/>
        </p:nvSpPr>
        <p:spPr>
          <a:xfrm>
            <a:off x="3968496" y="518846"/>
            <a:ext cx="5504688" cy="1015663"/>
          </a:xfrm>
          <a:prstGeom prst="rect">
            <a:avLst/>
          </a:prstGeom>
          <a:noFill/>
        </p:spPr>
        <p:txBody>
          <a:bodyPr wrap="square" rtlCol="0">
            <a:spAutoFit/>
          </a:bodyPr>
          <a:lstStyle/>
          <a:p>
            <a:r>
              <a:rPr lang="en-US" sz="3000" b="1" dirty="0">
                <a:solidFill>
                  <a:schemeClr val="tx2">
                    <a:lumMod val="90000"/>
                    <a:lumOff val="10000"/>
                  </a:schemeClr>
                </a:solidFill>
                <a:latin typeface="Times New Roman" panose="02020603050405020304" pitchFamily="18" charset="0"/>
                <a:cs typeface="Times New Roman" panose="02020603050405020304" pitchFamily="18" charset="0"/>
              </a:rPr>
              <a:t>OBJECTIVES</a:t>
            </a:r>
            <a:endParaRPr lang="en-IN" sz="3000" b="1" dirty="0">
              <a:solidFill>
                <a:schemeClr val="tx2">
                  <a:lumMod val="90000"/>
                  <a:lumOff val="10000"/>
                </a:schemeClr>
              </a:solidFill>
              <a:latin typeface="Times New Roman" panose="02020603050405020304" pitchFamily="18" charset="0"/>
              <a:cs typeface="Times New Roman" panose="02020603050405020304" pitchFamily="18" charset="0"/>
            </a:endParaRPr>
          </a:p>
          <a:p>
            <a:endParaRPr lang="en-IN" sz="3000" dirty="0"/>
          </a:p>
        </p:txBody>
      </p:sp>
    </p:spTree>
    <p:extLst>
      <p:ext uri="{BB962C8B-B14F-4D97-AF65-F5344CB8AC3E}">
        <p14:creationId xmlns:p14="http://schemas.microsoft.com/office/powerpoint/2010/main" val="1248453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BF9F67AF-7790-FB5B-C435-D5B02C0DC98A}"/>
              </a:ext>
            </a:extLst>
          </p:cNvPr>
          <p:cNvPicPr>
            <a:picLocks noChangeAspect="1"/>
          </p:cNvPicPr>
          <p:nvPr/>
        </p:nvPicPr>
        <p:blipFill>
          <a:blip r:embed="rId2"/>
          <a:stretch>
            <a:fillRect/>
          </a:stretch>
        </p:blipFill>
        <p:spPr>
          <a:xfrm>
            <a:off x="210667" y="191626"/>
            <a:ext cx="1135116" cy="1342883"/>
          </a:xfrm>
          <a:prstGeom prst="rect">
            <a:avLst/>
          </a:prstGeom>
        </p:spPr>
      </p:pic>
      <p:pic>
        <p:nvPicPr>
          <p:cNvPr id="3" name="picture 4">
            <a:extLst>
              <a:ext uri="{FF2B5EF4-FFF2-40B4-BE49-F238E27FC236}">
                <a16:creationId xmlns:a16="http://schemas.microsoft.com/office/drawing/2014/main" id="{06B48E66-3FF9-0BA4-14FD-989900DD5967}"/>
              </a:ext>
            </a:extLst>
          </p:cNvPr>
          <p:cNvPicPr>
            <a:picLocks noChangeAspect="1"/>
          </p:cNvPicPr>
          <p:nvPr/>
        </p:nvPicPr>
        <p:blipFill>
          <a:blip r:embed="rId3"/>
          <a:stretch>
            <a:fillRect/>
          </a:stretch>
        </p:blipFill>
        <p:spPr>
          <a:xfrm>
            <a:off x="10514231" y="191626"/>
            <a:ext cx="1520114" cy="1342883"/>
          </a:xfrm>
          <a:prstGeom prst="rect">
            <a:avLst/>
          </a:prstGeom>
        </p:spPr>
      </p:pic>
      <p:sp>
        <p:nvSpPr>
          <p:cNvPr id="4" name="TextBox 3">
            <a:extLst>
              <a:ext uri="{FF2B5EF4-FFF2-40B4-BE49-F238E27FC236}">
                <a16:creationId xmlns:a16="http://schemas.microsoft.com/office/drawing/2014/main" id="{007AA11D-E197-74BA-12EF-CEDDC8C78F2D}"/>
              </a:ext>
            </a:extLst>
          </p:cNvPr>
          <p:cNvSpPr txBox="1"/>
          <p:nvPr/>
        </p:nvSpPr>
        <p:spPr>
          <a:xfrm>
            <a:off x="3426593" y="458806"/>
            <a:ext cx="6785810" cy="553998"/>
          </a:xfrm>
          <a:prstGeom prst="rect">
            <a:avLst/>
          </a:prstGeom>
          <a:noFill/>
        </p:spPr>
        <p:txBody>
          <a:bodyPr wrap="square" rtlCol="0">
            <a:spAutoFit/>
          </a:bodyPr>
          <a:lstStyle/>
          <a:p>
            <a:r>
              <a:rPr lang="en-US" sz="3000" b="1" dirty="0">
                <a:solidFill>
                  <a:schemeClr val="accent4">
                    <a:lumMod val="50000"/>
                  </a:schemeClr>
                </a:solidFill>
                <a:latin typeface="Times New Roman" panose="02020603050405020304" pitchFamily="18" charset="0"/>
                <a:cs typeface="Times New Roman" panose="02020603050405020304" pitchFamily="18" charset="0"/>
              </a:rPr>
              <a:t>LITERATURE REVIEW</a:t>
            </a:r>
            <a:endParaRPr lang="en-IN" sz="3000" b="1" dirty="0">
              <a:solidFill>
                <a:schemeClr val="accent4">
                  <a:lumMod val="50000"/>
                </a:schemeClr>
              </a:solidFill>
              <a:latin typeface="Times New Roman" panose="02020603050405020304" pitchFamily="18" charset="0"/>
              <a:cs typeface="Times New Roman" panose="02020603050405020304" pitchFamily="18" charset="0"/>
            </a:endParaRPr>
          </a:p>
        </p:txBody>
      </p:sp>
      <p:pic>
        <p:nvPicPr>
          <p:cNvPr id="10" name="Picture 9" descr="A screenshot of a computer&#10;&#10;AI-generated content may be incorrect.">
            <a:extLst>
              <a:ext uri="{FF2B5EF4-FFF2-40B4-BE49-F238E27FC236}">
                <a16:creationId xmlns:a16="http://schemas.microsoft.com/office/drawing/2014/main" id="{B6C20244-6131-A913-A0B5-F2FC1038740E}"/>
              </a:ext>
            </a:extLst>
          </p:cNvPr>
          <p:cNvPicPr>
            <a:picLocks noChangeAspect="1"/>
          </p:cNvPicPr>
          <p:nvPr/>
        </p:nvPicPr>
        <p:blipFill>
          <a:blip r:embed="rId4"/>
          <a:stretch>
            <a:fillRect/>
          </a:stretch>
        </p:blipFill>
        <p:spPr>
          <a:xfrm>
            <a:off x="310895" y="1618488"/>
            <a:ext cx="11585449" cy="4937760"/>
          </a:xfrm>
          <a:prstGeom prst="rect">
            <a:avLst/>
          </a:prstGeom>
        </p:spPr>
      </p:pic>
    </p:spTree>
    <p:extLst>
      <p:ext uri="{BB962C8B-B14F-4D97-AF65-F5344CB8AC3E}">
        <p14:creationId xmlns:p14="http://schemas.microsoft.com/office/powerpoint/2010/main" val="9100110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E89173AB-761D-3AD5-6033-20499D5EB5C3}"/>
              </a:ext>
            </a:extLst>
          </p:cNvPr>
          <p:cNvPicPr>
            <a:picLocks noChangeAspect="1"/>
          </p:cNvPicPr>
          <p:nvPr/>
        </p:nvPicPr>
        <p:blipFill>
          <a:blip r:embed="rId2"/>
          <a:stretch>
            <a:fillRect/>
          </a:stretch>
        </p:blipFill>
        <p:spPr>
          <a:xfrm>
            <a:off x="210667" y="191626"/>
            <a:ext cx="1135116" cy="1342883"/>
          </a:xfrm>
          <a:prstGeom prst="rect">
            <a:avLst/>
          </a:prstGeom>
        </p:spPr>
      </p:pic>
      <p:pic>
        <p:nvPicPr>
          <p:cNvPr id="3" name="picture 4">
            <a:extLst>
              <a:ext uri="{FF2B5EF4-FFF2-40B4-BE49-F238E27FC236}">
                <a16:creationId xmlns:a16="http://schemas.microsoft.com/office/drawing/2014/main" id="{8FB6238A-77C1-ECDB-6A39-0ED08EF969F9}"/>
              </a:ext>
            </a:extLst>
          </p:cNvPr>
          <p:cNvPicPr>
            <a:picLocks noChangeAspect="1"/>
          </p:cNvPicPr>
          <p:nvPr/>
        </p:nvPicPr>
        <p:blipFill>
          <a:blip r:embed="rId3"/>
          <a:stretch>
            <a:fillRect/>
          </a:stretch>
        </p:blipFill>
        <p:spPr>
          <a:xfrm>
            <a:off x="10514231" y="191626"/>
            <a:ext cx="1520114" cy="1342883"/>
          </a:xfrm>
          <a:prstGeom prst="rect">
            <a:avLst/>
          </a:prstGeom>
        </p:spPr>
      </p:pic>
      <p:sp>
        <p:nvSpPr>
          <p:cNvPr id="4" name="TextBox 3">
            <a:extLst>
              <a:ext uri="{FF2B5EF4-FFF2-40B4-BE49-F238E27FC236}">
                <a16:creationId xmlns:a16="http://schemas.microsoft.com/office/drawing/2014/main" id="{E7A8DB7A-CFDE-D993-1B92-D8CAE844CE98}"/>
              </a:ext>
            </a:extLst>
          </p:cNvPr>
          <p:cNvSpPr txBox="1"/>
          <p:nvPr/>
        </p:nvSpPr>
        <p:spPr>
          <a:xfrm>
            <a:off x="3607548" y="455059"/>
            <a:ext cx="7161195" cy="553998"/>
          </a:xfrm>
          <a:prstGeom prst="rect">
            <a:avLst/>
          </a:prstGeom>
          <a:noFill/>
        </p:spPr>
        <p:txBody>
          <a:bodyPr wrap="square" rtlCol="0">
            <a:spAutoFit/>
          </a:bodyPr>
          <a:lstStyle/>
          <a:p>
            <a:r>
              <a:rPr lang="en-US" sz="3000" b="1" dirty="0">
                <a:solidFill>
                  <a:schemeClr val="accent4">
                    <a:lumMod val="50000"/>
                  </a:schemeClr>
                </a:solidFill>
                <a:latin typeface="Times New Roman" panose="02020603050405020304" pitchFamily="18" charset="0"/>
                <a:cs typeface="Times New Roman" panose="02020603050405020304" pitchFamily="18" charset="0"/>
              </a:rPr>
              <a:t>METHODOLOGY</a:t>
            </a:r>
            <a:endParaRPr lang="en-IN" sz="3000" b="1"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D9AC40C8-767A-AEB7-EF7E-B86F74960CCD}"/>
              </a:ext>
            </a:extLst>
          </p:cNvPr>
          <p:cNvSpPr>
            <a:spLocks noChangeArrowheads="1"/>
          </p:cNvSpPr>
          <p:nvPr/>
        </p:nvSpPr>
        <p:spPr bwMode="auto">
          <a:xfrm>
            <a:off x="341886" y="2336551"/>
            <a:ext cx="11508227"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project uses </a:t>
            </a:r>
            <a:r>
              <a:rPr lang="en-US" sz="2200" b="1" dirty="0">
                <a:latin typeface="Times New Roman" panose="02020603050405020304" pitchFamily="18" charset="0"/>
                <a:cs typeface="Times New Roman" panose="02020603050405020304" pitchFamily="18" charset="0"/>
              </a:rPr>
              <a:t>Python</a:t>
            </a:r>
            <a:r>
              <a:rPr lang="en-US" sz="2200" dirty="0">
                <a:latin typeface="Times New Roman" panose="02020603050405020304" pitchFamily="18" charset="0"/>
                <a:cs typeface="Times New Roman" panose="02020603050405020304" pitchFamily="18" charset="0"/>
              </a:rPr>
              <a:t>, SMTP libraries, and </a:t>
            </a:r>
            <a:r>
              <a:rPr lang="en-US" sz="2200" b="1" dirty="0">
                <a:latin typeface="Times New Roman" panose="02020603050405020304" pitchFamily="18" charset="0"/>
                <a:cs typeface="Times New Roman" panose="02020603050405020304" pitchFamily="18" charset="0"/>
              </a:rPr>
              <a:t>SSL/TLS frameworks</a:t>
            </a:r>
            <a:r>
              <a:rPr lang="en-US" sz="2200" dirty="0">
                <a:latin typeface="Times New Roman" panose="02020603050405020304" pitchFamily="18" charset="0"/>
                <a:cs typeface="Times New Roman" panose="02020603050405020304" pitchFamily="18" charset="0"/>
              </a:rPr>
              <a:t> to build a secure email transmission system. A secure SMTP server is configured to support SSL/TLS encryption, and a client-side email module is developed using encrypted sockets. Security features such as encryption, authentication, and certificate validation are implemented to ensure safe communication. Testing is performed using dummy accounts to verify secure data transmission.</a:t>
            </a:r>
          </a:p>
          <a:p>
            <a:pPr marL="342900" indent="-342900">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system is evaluated by analyzing encryption success, security behavior, and error handling. Functional testing ensures correct email delivery, security testing checks protection against attacks, and performance testing evaluates system efficiency. These validations confirm that the proposed system provides reliable and secure email transmission using SMTP over SSL/TLS.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4471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CC57E-DF2B-F016-DF5D-DCD29DF9605E}"/>
            </a:ext>
          </a:extLst>
        </p:cNvPr>
        <p:cNvGrpSpPr/>
        <p:nvPr/>
      </p:nvGrpSpPr>
      <p:grpSpPr>
        <a:xfrm>
          <a:off x="0" y="0"/>
          <a:ext cx="0" cy="0"/>
          <a:chOff x="0" y="0"/>
          <a:chExt cx="0" cy="0"/>
        </a:xfrm>
      </p:grpSpPr>
      <p:pic>
        <p:nvPicPr>
          <p:cNvPr id="2" name="picture 6">
            <a:extLst>
              <a:ext uri="{FF2B5EF4-FFF2-40B4-BE49-F238E27FC236}">
                <a16:creationId xmlns:a16="http://schemas.microsoft.com/office/drawing/2014/main" id="{7529D671-01C1-8A1E-98C1-9ACCF86F326E}"/>
              </a:ext>
            </a:extLst>
          </p:cNvPr>
          <p:cNvPicPr>
            <a:picLocks noChangeAspect="1"/>
          </p:cNvPicPr>
          <p:nvPr/>
        </p:nvPicPr>
        <p:blipFill>
          <a:blip r:embed="rId3"/>
          <a:stretch>
            <a:fillRect/>
          </a:stretch>
        </p:blipFill>
        <p:spPr>
          <a:xfrm>
            <a:off x="210667" y="191626"/>
            <a:ext cx="1135116" cy="1342883"/>
          </a:xfrm>
          <a:prstGeom prst="rect">
            <a:avLst/>
          </a:prstGeom>
        </p:spPr>
      </p:pic>
      <p:pic>
        <p:nvPicPr>
          <p:cNvPr id="3" name="picture 4">
            <a:extLst>
              <a:ext uri="{FF2B5EF4-FFF2-40B4-BE49-F238E27FC236}">
                <a16:creationId xmlns:a16="http://schemas.microsoft.com/office/drawing/2014/main" id="{8B9E79F9-8F70-43F7-FA7C-A6374B4158AA}"/>
              </a:ext>
            </a:extLst>
          </p:cNvPr>
          <p:cNvPicPr>
            <a:picLocks noChangeAspect="1"/>
          </p:cNvPicPr>
          <p:nvPr/>
        </p:nvPicPr>
        <p:blipFill>
          <a:blip r:embed="rId4"/>
          <a:stretch>
            <a:fillRect/>
          </a:stretch>
        </p:blipFill>
        <p:spPr>
          <a:xfrm>
            <a:off x="10514231" y="191626"/>
            <a:ext cx="1520114" cy="1342883"/>
          </a:xfrm>
          <a:prstGeom prst="rect">
            <a:avLst/>
          </a:prstGeom>
        </p:spPr>
      </p:pic>
      <p:sp>
        <p:nvSpPr>
          <p:cNvPr id="4" name="TextBox 3">
            <a:extLst>
              <a:ext uri="{FF2B5EF4-FFF2-40B4-BE49-F238E27FC236}">
                <a16:creationId xmlns:a16="http://schemas.microsoft.com/office/drawing/2014/main" id="{0941CB7E-13C4-1F33-AFDC-9D52809A8416}"/>
              </a:ext>
            </a:extLst>
          </p:cNvPr>
          <p:cNvSpPr txBox="1"/>
          <p:nvPr/>
        </p:nvSpPr>
        <p:spPr>
          <a:xfrm>
            <a:off x="2637803" y="391447"/>
            <a:ext cx="9702266" cy="553998"/>
          </a:xfrm>
          <a:prstGeom prst="rect">
            <a:avLst/>
          </a:prstGeom>
          <a:noFill/>
        </p:spPr>
        <p:txBody>
          <a:bodyPr wrap="square" rtlCol="0">
            <a:spAutoFit/>
          </a:bodyPr>
          <a:lstStyle/>
          <a:p>
            <a:r>
              <a:rPr lang="en-US" sz="3000" b="1" dirty="0">
                <a:solidFill>
                  <a:schemeClr val="accent4">
                    <a:lumMod val="50000"/>
                  </a:schemeClr>
                </a:solidFill>
                <a:latin typeface="Times New Roman" panose="02020603050405020304" pitchFamily="18" charset="0"/>
                <a:cs typeface="Times New Roman" panose="02020603050405020304" pitchFamily="18" charset="0"/>
              </a:rPr>
              <a:t> SYSTEM DESIGN / ARCHITECURE</a:t>
            </a:r>
            <a:endParaRPr lang="en-IN" sz="3000" b="1" dirty="0">
              <a:solidFill>
                <a:schemeClr val="accent4">
                  <a:lumMod val="50000"/>
                </a:schemeClr>
              </a:solidFill>
              <a:latin typeface="Times New Roman" panose="02020603050405020304" pitchFamily="18" charset="0"/>
              <a:cs typeface="Times New Roman" panose="02020603050405020304" pitchFamily="18" charset="0"/>
            </a:endParaRPr>
          </a:p>
        </p:txBody>
      </p:sp>
      <p:pic>
        <p:nvPicPr>
          <p:cNvPr id="11" name="Picture 10" descr="A computer screen shot of a computer&#10;&#10;AI-generated content may be incorrect.">
            <a:extLst>
              <a:ext uri="{FF2B5EF4-FFF2-40B4-BE49-F238E27FC236}">
                <a16:creationId xmlns:a16="http://schemas.microsoft.com/office/drawing/2014/main" id="{3BBD56E7-DA0B-DBA7-A615-5FF66FD0E41F}"/>
              </a:ext>
            </a:extLst>
          </p:cNvPr>
          <p:cNvPicPr>
            <a:picLocks noChangeAspect="1"/>
          </p:cNvPicPr>
          <p:nvPr/>
        </p:nvPicPr>
        <p:blipFill>
          <a:blip r:embed="rId5"/>
          <a:stretch>
            <a:fillRect/>
          </a:stretch>
        </p:blipFill>
        <p:spPr>
          <a:xfrm>
            <a:off x="210667" y="1700257"/>
            <a:ext cx="5358384" cy="4966117"/>
          </a:xfrm>
          <a:prstGeom prst="rect">
            <a:avLst/>
          </a:prstGeom>
        </p:spPr>
      </p:pic>
      <p:sp>
        <p:nvSpPr>
          <p:cNvPr id="9" name="Rectangle 1">
            <a:extLst>
              <a:ext uri="{FF2B5EF4-FFF2-40B4-BE49-F238E27FC236}">
                <a16:creationId xmlns:a16="http://schemas.microsoft.com/office/drawing/2014/main" id="{065F20A9-86F8-2F1B-5E2F-038D9DA39B11}"/>
              </a:ext>
            </a:extLst>
          </p:cNvPr>
          <p:cNvSpPr>
            <a:spLocks noChangeArrowheads="1"/>
          </p:cNvSpPr>
          <p:nvPr/>
        </p:nvSpPr>
        <p:spPr bwMode="auto">
          <a:xfrm>
            <a:off x="5855544" y="2368726"/>
            <a:ext cx="10652760" cy="413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175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sender composes an email</a:t>
            </a:r>
            <a:r>
              <a:rPr kumimoji="0" lang="en-US" altLang="en-US" sz="17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 an email client (MUA).</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7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email is sent to the </a:t>
            </a:r>
            <a:r>
              <a:rPr kumimoji="0" lang="en-US" altLang="en-US" sz="175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outgoing mail server (MTA)</a:t>
            </a:r>
            <a:r>
              <a:rPr kumimoji="0" lang="en-US" altLang="en-US" sz="17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7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5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SMTP over TLS</a:t>
            </a:r>
            <a:r>
              <a:rPr kumimoji="0" lang="en-US" altLang="en-US" sz="17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encrypts the email before sending.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7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encrypted email travels through the </a:t>
            </a:r>
            <a:r>
              <a:rPr kumimoji="0" lang="en-US" altLang="en-US" sz="175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Internet / public network</a:t>
            </a:r>
            <a:r>
              <a:rPr kumimoji="0" lang="en-US" altLang="en-US" sz="17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7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175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recipient mail server</a:t>
            </a:r>
            <a:r>
              <a:rPr kumimoji="0" lang="en-US" altLang="en-US" sz="17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receives the email securely.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7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email is stored after </a:t>
            </a:r>
            <a:r>
              <a:rPr kumimoji="0" lang="en-US" altLang="en-US" sz="175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SSL/TLS decryption</a:t>
            </a:r>
            <a:r>
              <a:rPr kumimoji="0" lang="en-US" altLang="en-US" sz="17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7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receiver accesses the email using </a:t>
            </a:r>
            <a:r>
              <a:rPr kumimoji="0" lang="en-US" altLang="en-US" sz="175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POP3S or IMAPS</a:t>
            </a:r>
            <a:r>
              <a:rPr kumimoji="0" lang="en-US" altLang="en-US" sz="17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7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email is downloaded securely to the </a:t>
            </a:r>
            <a:r>
              <a:rPr kumimoji="0" lang="en-US" altLang="en-US" sz="175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recipient’s email client</a:t>
            </a:r>
            <a:r>
              <a:rPr kumimoji="0" lang="en-US" altLang="en-US" sz="17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
        <p:nvSpPr>
          <p:cNvPr id="12" name="TextBox 11">
            <a:extLst>
              <a:ext uri="{FF2B5EF4-FFF2-40B4-BE49-F238E27FC236}">
                <a16:creationId xmlns:a16="http://schemas.microsoft.com/office/drawing/2014/main" id="{3429F94F-B670-CF4D-6681-1CC8AB0EDF8B}"/>
              </a:ext>
            </a:extLst>
          </p:cNvPr>
          <p:cNvSpPr txBox="1"/>
          <p:nvPr/>
        </p:nvSpPr>
        <p:spPr>
          <a:xfrm>
            <a:off x="5903169" y="1857441"/>
            <a:ext cx="8301036" cy="430887"/>
          </a:xfrm>
          <a:prstGeom prst="rect">
            <a:avLst/>
          </a:prstGeom>
          <a:noFill/>
        </p:spPr>
        <p:txBody>
          <a:bodyPr wrap="square">
            <a:spAutoFit/>
          </a:bodyPr>
          <a:lstStyle/>
          <a:p>
            <a:r>
              <a:rPr lang="en-IN" sz="2200" dirty="0">
                <a:latin typeface="Times New Roman" panose="02020603050405020304" pitchFamily="18" charset="0"/>
                <a:cs typeface="Times New Roman" panose="02020603050405020304" pitchFamily="18" charset="0"/>
              </a:rPr>
              <a:t>Encrypted Email Transmission  :</a:t>
            </a:r>
          </a:p>
        </p:txBody>
      </p:sp>
    </p:spTree>
    <p:extLst>
      <p:ext uri="{BB962C8B-B14F-4D97-AF65-F5344CB8AC3E}">
        <p14:creationId xmlns:p14="http://schemas.microsoft.com/office/powerpoint/2010/main" val="3830531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D7F08200-35BF-13BA-076B-0940C4550561}"/>
              </a:ext>
            </a:extLst>
          </p:cNvPr>
          <p:cNvPicPr>
            <a:picLocks noChangeAspect="1"/>
          </p:cNvPicPr>
          <p:nvPr/>
        </p:nvPicPr>
        <p:blipFill>
          <a:blip r:embed="rId3"/>
          <a:stretch>
            <a:fillRect/>
          </a:stretch>
        </p:blipFill>
        <p:spPr>
          <a:xfrm>
            <a:off x="210667" y="191626"/>
            <a:ext cx="1135116" cy="1342883"/>
          </a:xfrm>
          <a:prstGeom prst="rect">
            <a:avLst/>
          </a:prstGeom>
        </p:spPr>
      </p:pic>
      <p:pic>
        <p:nvPicPr>
          <p:cNvPr id="3" name="picture 4">
            <a:extLst>
              <a:ext uri="{FF2B5EF4-FFF2-40B4-BE49-F238E27FC236}">
                <a16:creationId xmlns:a16="http://schemas.microsoft.com/office/drawing/2014/main" id="{91E18892-2699-6EAD-3CE4-89E1EA8F6004}"/>
              </a:ext>
            </a:extLst>
          </p:cNvPr>
          <p:cNvPicPr>
            <a:picLocks noChangeAspect="1"/>
          </p:cNvPicPr>
          <p:nvPr/>
        </p:nvPicPr>
        <p:blipFill>
          <a:blip r:embed="rId4"/>
          <a:stretch>
            <a:fillRect/>
          </a:stretch>
        </p:blipFill>
        <p:spPr>
          <a:xfrm>
            <a:off x="10514231" y="191626"/>
            <a:ext cx="1520114" cy="1342883"/>
          </a:xfrm>
          <a:prstGeom prst="rect">
            <a:avLst/>
          </a:prstGeom>
        </p:spPr>
      </p:pic>
      <p:sp>
        <p:nvSpPr>
          <p:cNvPr id="4" name="TextBox 3">
            <a:extLst>
              <a:ext uri="{FF2B5EF4-FFF2-40B4-BE49-F238E27FC236}">
                <a16:creationId xmlns:a16="http://schemas.microsoft.com/office/drawing/2014/main" id="{FAD7CABC-AF1E-D183-2B0A-6252037785F0}"/>
              </a:ext>
            </a:extLst>
          </p:cNvPr>
          <p:cNvSpPr txBox="1"/>
          <p:nvPr/>
        </p:nvSpPr>
        <p:spPr>
          <a:xfrm>
            <a:off x="2330351" y="586068"/>
            <a:ext cx="8183880" cy="553998"/>
          </a:xfrm>
          <a:prstGeom prst="rect">
            <a:avLst/>
          </a:prstGeom>
          <a:noFill/>
        </p:spPr>
        <p:txBody>
          <a:bodyPr wrap="square" rtlCol="0">
            <a:spAutoFit/>
          </a:bodyPr>
          <a:lstStyle/>
          <a:p>
            <a:r>
              <a:rPr lang="en-US" sz="3000" b="1" dirty="0">
                <a:solidFill>
                  <a:schemeClr val="accent4">
                    <a:lumMod val="50000"/>
                  </a:schemeClr>
                </a:solidFill>
                <a:latin typeface="Times New Roman" panose="02020603050405020304" pitchFamily="18" charset="0"/>
                <a:cs typeface="Times New Roman" panose="02020603050405020304" pitchFamily="18" charset="0"/>
              </a:rPr>
              <a:t>MODULE1: </a:t>
            </a:r>
            <a:r>
              <a:rPr lang="en-US" sz="3000" dirty="0">
                <a:solidFill>
                  <a:schemeClr val="accent4">
                    <a:lumMod val="50000"/>
                  </a:schemeClr>
                </a:solidFill>
                <a:latin typeface="Times New Roman" panose="02020603050405020304" pitchFamily="18" charset="0"/>
                <a:cs typeface="Times New Roman" panose="02020603050405020304" pitchFamily="18" charset="0"/>
              </a:rPr>
              <a:t>Secure Email System Design</a:t>
            </a:r>
            <a:endParaRPr lang="en-IN" sz="3000"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7" name="Rectangle 2">
            <a:extLst>
              <a:ext uri="{FF2B5EF4-FFF2-40B4-BE49-F238E27FC236}">
                <a16:creationId xmlns:a16="http://schemas.microsoft.com/office/drawing/2014/main" id="{CC5A5E9D-A84A-D4C4-E7FD-12A8977E57A9}"/>
              </a:ext>
            </a:extLst>
          </p:cNvPr>
          <p:cNvSpPr>
            <a:spLocks noChangeArrowheads="1"/>
          </p:cNvSpPr>
          <p:nvPr/>
        </p:nvSpPr>
        <p:spPr bwMode="auto">
          <a:xfrm rot="10800000" flipV="1">
            <a:off x="385762" y="1648882"/>
            <a:ext cx="6993446"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Authentication &amp; Access Control</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Ensures only authorized users can send and receive emails using secure login mechanisms.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Email Encryption</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Protects email content using encryption techniques like TLS, PGP, or S/MIME.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Spam &amp; Malware Protection</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Detects and blocks spam, phishing attempts, and malicious attachments.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Integrity &amp; Digital Signatures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Verifies that emails are not altered and confirms sender authenticity.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Audit, Logging &amp; Compliance</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Maintains logs and monitoring to ensure security compliance and traceability.</a:t>
            </a:r>
          </a:p>
        </p:txBody>
      </p:sp>
      <p:pic>
        <p:nvPicPr>
          <p:cNvPr id="6" name="Picture 5" descr="A diagram of a computer network&#10;&#10;AI-generated content may be incorrect.">
            <a:extLst>
              <a:ext uri="{FF2B5EF4-FFF2-40B4-BE49-F238E27FC236}">
                <a16:creationId xmlns:a16="http://schemas.microsoft.com/office/drawing/2014/main" id="{6A7A58A5-A293-73F6-2DC6-68D293005B9A}"/>
              </a:ext>
            </a:extLst>
          </p:cNvPr>
          <p:cNvPicPr>
            <a:picLocks noChangeAspect="1"/>
          </p:cNvPicPr>
          <p:nvPr/>
        </p:nvPicPr>
        <p:blipFill>
          <a:blip r:embed="rId5"/>
          <a:stretch>
            <a:fillRect/>
          </a:stretch>
        </p:blipFill>
        <p:spPr>
          <a:xfrm>
            <a:off x="7285940" y="1416265"/>
            <a:ext cx="4906060" cy="5441736"/>
          </a:xfrm>
          <a:prstGeom prst="rect">
            <a:avLst/>
          </a:prstGeom>
        </p:spPr>
      </p:pic>
      <p:sp>
        <p:nvSpPr>
          <p:cNvPr id="8" name="TextBox 7">
            <a:extLst>
              <a:ext uri="{FF2B5EF4-FFF2-40B4-BE49-F238E27FC236}">
                <a16:creationId xmlns:a16="http://schemas.microsoft.com/office/drawing/2014/main" id="{D76E4D7E-091D-5F45-72F3-513434160A77}"/>
              </a:ext>
            </a:extLst>
          </p:cNvPr>
          <p:cNvSpPr txBox="1"/>
          <p:nvPr/>
        </p:nvSpPr>
        <p:spPr>
          <a:xfrm>
            <a:off x="7307205" y="1416264"/>
            <a:ext cx="2706624"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OUTPUT:</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884953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4D0743C2-CE9A-23C4-767D-8E62F4E3DDD7}"/>
              </a:ext>
            </a:extLst>
          </p:cNvPr>
          <p:cNvPicPr>
            <a:picLocks noChangeAspect="1"/>
          </p:cNvPicPr>
          <p:nvPr/>
        </p:nvPicPr>
        <p:blipFill>
          <a:blip r:embed="rId3"/>
          <a:stretch>
            <a:fillRect/>
          </a:stretch>
        </p:blipFill>
        <p:spPr>
          <a:xfrm>
            <a:off x="210667" y="191626"/>
            <a:ext cx="1135116" cy="1342883"/>
          </a:xfrm>
          <a:prstGeom prst="rect">
            <a:avLst/>
          </a:prstGeom>
        </p:spPr>
      </p:pic>
      <p:pic>
        <p:nvPicPr>
          <p:cNvPr id="3" name="picture 4">
            <a:extLst>
              <a:ext uri="{FF2B5EF4-FFF2-40B4-BE49-F238E27FC236}">
                <a16:creationId xmlns:a16="http://schemas.microsoft.com/office/drawing/2014/main" id="{16A4E5FD-0545-C6DF-54EF-E109547CAEBB}"/>
              </a:ext>
            </a:extLst>
          </p:cNvPr>
          <p:cNvPicPr>
            <a:picLocks noChangeAspect="1"/>
          </p:cNvPicPr>
          <p:nvPr/>
        </p:nvPicPr>
        <p:blipFill>
          <a:blip r:embed="rId4"/>
          <a:stretch>
            <a:fillRect/>
          </a:stretch>
        </p:blipFill>
        <p:spPr>
          <a:xfrm>
            <a:off x="10514231" y="191626"/>
            <a:ext cx="1520114" cy="1342883"/>
          </a:xfrm>
          <a:prstGeom prst="rect">
            <a:avLst/>
          </a:prstGeom>
        </p:spPr>
      </p:pic>
      <p:sp>
        <p:nvSpPr>
          <p:cNvPr id="4" name="TextBox 3">
            <a:extLst>
              <a:ext uri="{FF2B5EF4-FFF2-40B4-BE49-F238E27FC236}">
                <a16:creationId xmlns:a16="http://schemas.microsoft.com/office/drawing/2014/main" id="{76D9CDB1-D79B-959B-07F1-95EAEA63C016}"/>
              </a:ext>
            </a:extLst>
          </p:cNvPr>
          <p:cNvSpPr txBox="1"/>
          <p:nvPr/>
        </p:nvSpPr>
        <p:spPr>
          <a:xfrm>
            <a:off x="2004744" y="586068"/>
            <a:ext cx="8182511" cy="553998"/>
          </a:xfrm>
          <a:prstGeom prst="rect">
            <a:avLst/>
          </a:prstGeom>
          <a:noFill/>
        </p:spPr>
        <p:txBody>
          <a:bodyPr wrap="square" rtlCol="0">
            <a:spAutoFit/>
          </a:bodyPr>
          <a:lstStyle/>
          <a:p>
            <a:r>
              <a:rPr lang="en-US" sz="3000" b="1" dirty="0">
                <a:solidFill>
                  <a:schemeClr val="accent4">
                    <a:lumMod val="50000"/>
                  </a:schemeClr>
                </a:solidFill>
                <a:latin typeface="Times New Roman" panose="02020603050405020304" pitchFamily="18" charset="0"/>
                <a:cs typeface="Times New Roman" panose="02020603050405020304" pitchFamily="18" charset="0"/>
              </a:rPr>
              <a:t>MODULE2: </a:t>
            </a:r>
            <a:r>
              <a:rPr lang="en-US" sz="3000" dirty="0">
                <a:solidFill>
                  <a:schemeClr val="accent4">
                    <a:lumMod val="50000"/>
                  </a:schemeClr>
                </a:solidFill>
                <a:latin typeface="Times New Roman" panose="02020603050405020304" pitchFamily="18" charset="0"/>
                <a:cs typeface="Times New Roman" panose="02020603050405020304" pitchFamily="18" charset="0"/>
              </a:rPr>
              <a:t>Secure Email System Configuration</a:t>
            </a:r>
            <a:endParaRPr lang="en-IN" sz="3000"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7" name="Rectangle 2">
            <a:extLst>
              <a:ext uri="{FF2B5EF4-FFF2-40B4-BE49-F238E27FC236}">
                <a16:creationId xmlns:a16="http://schemas.microsoft.com/office/drawing/2014/main" id="{E4F054DC-F1BB-0E1F-5A6B-605EC2DC4B25}"/>
              </a:ext>
            </a:extLst>
          </p:cNvPr>
          <p:cNvSpPr>
            <a:spLocks noChangeArrowheads="1"/>
          </p:cNvSpPr>
          <p:nvPr/>
        </p:nvSpPr>
        <p:spPr bwMode="auto">
          <a:xfrm rot="10800000" flipV="1">
            <a:off x="294486" y="1686063"/>
            <a:ext cx="7139586"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 TLS/SSL for SMTP, IMAP, and POP</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ensure secure data transmission.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Configure SMTP Submission (port 587)</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mandatory authentication and encrypted connections.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 SPF, DKIM, and DMARC</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DNS to protect against spoofing and ensure domain trust.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Set up anti-spam and anti-malware filtering</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block harmful or suspicious emails.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Secure mail storage with encryption and access controls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along with regular monitoring and logging.</a:t>
            </a:r>
          </a:p>
        </p:txBody>
      </p:sp>
      <p:pic>
        <p:nvPicPr>
          <p:cNvPr id="6" name="Picture 5" descr="A diagram of a computer network&#10;&#10;AI-generated content may be incorrect.">
            <a:extLst>
              <a:ext uri="{FF2B5EF4-FFF2-40B4-BE49-F238E27FC236}">
                <a16:creationId xmlns:a16="http://schemas.microsoft.com/office/drawing/2014/main" id="{CF3A340A-35DD-E4F3-0B36-6484E28B565C}"/>
              </a:ext>
            </a:extLst>
          </p:cNvPr>
          <p:cNvPicPr>
            <a:picLocks noChangeAspect="1"/>
          </p:cNvPicPr>
          <p:nvPr/>
        </p:nvPicPr>
        <p:blipFill>
          <a:blip r:embed="rId5"/>
          <a:stretch>
            <a:fillRect/>
          </a:stretch>
        </p:blipFill>
        <p:spPr>
          <a:xfrm>
            <a:off x="7199376" y="1686063"/>
            <a:ext cx="4992624" cy="5171937"/>
          </a:xfrm>
          <a:prstGeom prst="rect">
            <a:avLst/>
          </a:prstGeom>
        </p:spPr>
      </p:pic>
      <p:sp>
        <p:nvSpPr>
          <p:cNvPr id="8" name="TextBox 7">
            <a:extLst>
              <a:ext uri="{FF2B5EF4-FFF2-40B4-BE49-F238E27FC236}">
                <a16:creationId xmlns:a16="http://schemas.microsoft.com/office/drawing/2014/main" id="{55A3455D-A39D-67DD-11B7-48218FE01D15}"/>
              </a:ext>
            </a:extLst>
          </p:cNvPr>
          <p:cNvSpPr txBox="1"/>
          <p:nvPr/>
        </p:nvSpPr>
        <p:spPr>
          <a:xfrm>
            <a:off x="7398335" y="1502490"/>
            <a:ext cx="2788920"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OUTPUT:</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369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54304331-457F-0E9F-4BC2-5EEA68DD7CFA}"/>
              </a:ext>
            </a:extLst>
          </p:cNvPr>
          <p:cNvPicPr>
            <a:picLocks noChangeAspect="1"/>
          </p:cNvPicPr>
          <p:nvPr/>
        </p:nvPicPr>
        <p:blipFill>
          <a:blip r:embed="rId3"/>
          <a:stretch>
            <a:fillRect/>
          </a:stretch>
        </p:blipFill>
        <p:spPr>
          <a:xfrm>
            <a:off x="210667" y="191626"/>
            <a:ext cx="1135116" cy="1342883"/>
          </a:xfrm>
          <a:prstGeom prst="rect">
            <a:avLst/>
          </a:prstGeom>
        </p:spPr>
      </p:pic>
      <p:pic>
        <p:nvPicPr>
          <p:cNvPr id="3" name="picture 4">
            <a:extLst>
              <a:ext uri="{FF2B5EF4-FFF2-40B4-BE49-F238E27FC236}">
                <a16:creationId xmlns:a16="http://schemas.microsoft.com/office/drawing/2014/main" id="{9118F4FA-40C8-7270-620D-C0BF2C5AC123}"/>
              </a:ext>
            </a:extLst>
          </p:cNvPr>
          <p:cNvPicPr>
            <a:picLocks noChangeAspect="1"/>
          </p:cNvPicPr>
          <p:nvPr/>
        </p:nvPicPr>
        <p:blipFill>
          <a:blip r:embed="rId4"/>
          <a:stretch>
            <a:fillRect/>
          </a:stretch>
        </p:blipFill>
        <p:spPr>
          <a:xfrm>
            <a:off x="10514231" y="191626"/>
            <a:ext cx="1520114" cy="1342883"/>
          </a:xfrm>
          <a:prstGeom prst="rect">
            <a:avLst/>
          </a:prstGeom>
        </p:spPr>
      </p:pic>
      <p:sp>
        <p:nvSpPr>
          <p:cNvPr id="4" name="TextBox 3">
            <a:extLst>
              <a:ext uri="{FF2B5EF4-FFF2-40B4-BE49-F238E27FC236}">
                <a16:creationId xmlns:a16="http://schemas.microsoft.com/office/drawing/2014/main" id="{EBF6307D-BA47-8C86-8CA7-BBC194FC3DD9}"/>
              </a:ext>
            </a:extLst>
          </p:cNvPr>
          <p:cNvSpPr txBox="1"/>
          <p:nvPr/>
        </p:nvSpPr>
        <p:spPr>
          <a:xfrm>
            <a:off x="2047992" y="479019"/>
            <a:ext cx="9226296" cy="553998"/>
          </a:xfrm>
          <a:prstGeom prst="rect">
            <a:avLst/>
          </a:prstGeom>
          <a:noFill/>
        </p:spPr>
        <p:txBody>
          <a:bodyPr wrap="square" rtlCol="0">
            <a:spAutoFit/>
          </a:bodyPr>
          <a:lstStyle/>
          <a:p>
            <a:r>
              <a:rPr lang="en-US" sz="3000" b="1" dirty="0">
                <a:solidFill>
                  <a:schemeClr val="accent4">
                    <a:lumMod val="50000"/>
                  </a:schemeClr>
                </a:solidFill>
                <a:latin typeface="Times New Roman" panose="02020603050405020304" pitchFamily="18" charset="0"/>
                <a:cs typeface="Times New Roman" panose="02020603050405020304" pitchFamily="18" charset="0"/>
              </a:rPr>
              <a:t>MODULE3: </a:t>
            </a:r>
            <a:r>
              <a:rPr lang="en-US" sz="3000" dirty="0">
                <a:solidFill>
                  <a:schemeClr val="accent4">
                    <a:lumMod val="50000"/>
                  </a:schemeClr>
                </a:solidFill>
                <a:latin typeface="Times New Roman" panose="02020603050405020304" pitchFamily="18" charset="0"/>
                <a:cs typeface="Times New Roman" panose="02020603050405020304" pitchFamily="18" charset="0"/>
              </a:rPr>
              <a:t>SMTP/SSL/TLS Security Testing</a:t>
            </a:r>
            <a:endParaRPr lang="en-IN" sz="3000"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68FE756-D6C2-4BF1-61D4-A9F9EB7EDE9E}"/>
              </a:ext>
            </a:extLst>
          </p:cNvPr>
          <p:cNvSpPr txBox="1"/>
          <p:nvPr/>
        </p:nvSpPr>
        <p:spPr>
          <a:xfrm>
            <a:off x="326136" y="1989892"/>
            <a:ext cx="6915912" cy="4708981"/>
          </a:xfrm>
          <a:prstGeom prst="rect">
            <a:avLst/>
          </a:prstGeom>
          <a:noFill/>
        </p:spPr>
        <p:txBody>
          <a:bodyPr wrap="square">
            <a:spAutoFit/>
          </a:bodyPr>
          <a:lstStyle/>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Verify TLS handshake</a:t>
            </a:r>
            <a:r>
              <a:rPr lang="en-US" sz="2000" dirty="0">
                <a:latin typeface="Times New Roman" panose="02020603050405020304" pitchFamily="18" charset="0"/>
                <a:cs typeface="Times New Roman" panose="02020603050405020304" pitchFamily="18" charset="0"/>
              </a:rPr>
              <a:t> using tools like </a:t>
            </a:r>
            <a:r>
              <a:rPr lang="en-IN" sz="2000" dirty="0" err="1">
                <a:latin typeface="Times New Roman" panose="02020603050405020304" pitchFamily="18" charset="0"/>
                <a:cs typeface="Times New Roman" panose="02020603050405020304" pitchFamily="18" charset="0"/>
              </a:rPr>
              <a:t>openssl</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s_client</a:t>
            </a:r>
            <a:r>
              <a:rPr lang="en-US" sz="2000" dirty="0">
                <a:latin typeface="Times New Roman" panose="02020603050405020304" pitchFamily="18" charset="0"/>
                <a:cs typeface="Times New Roman" panose="02020603050405020304" pitchFamily="18" charset="0"/>
              </a:rPr>
              <a:t> to check certificate validity, supported protocols, and cipher strength.</a:t>
            </a:r>
          </a:p>
          <a:p>
            <a:pP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Test STARTTLS support</a:t>
            </a:r>
            <a:r>
              <a:rPr lang="en-US" sz="2000" dirty="0">
                <a:latin typeface="Times New Roman" panose="02020603050405020304" pitchFamily="18" charset="0"/>
                <a:cs typeface="Times New Roman" panose="02020603050405020304" pitchFamily="18" charset="0"/>
              </a:rPr>
              <a:t> on SMTP ports (25, 587) to ensure encryption is correctly negotiated and not downgraded.</a:t>
            </a:r>
          </a:p>
          <a:p>
            <a:pP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Check certificate configuration</a:t>
            </a:r>
            <a:r>
              <a:rPr lang="en-US" sz="2000" dirty="0">
                <a:latin typeface="Times New Roman" panose="02020603050405020304" pitchFamily="18" charset="0"/>
                <a:cs typeface="Times New Roman" panose="02020603050405020304" pitchFamily="18" charset="0"/>
              </a:rPr>
              <a:t> (expiry, CN/SAN, chain trust, key strength) for proper authentication.</a:t>
            </a:r>
          </a:p>
          <a:p>
            <a:pP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Scan for weak protocols and ciphers</a:t>
            </a:r>
            <a:r>
              <a:rPr lang="en-US" sz="2000" dirty="0">
                <a:latin typeface="Times New Roman" panose="02020603050405020304" pitchFamily="18" charset="0"/>
                <a:cs typeface="Times New Roman" panose="02020603050405020304" pitchFamily="18" charset="0"/>
              </a:rPr>
              <a:t> and ensure only secure versions (TLS 1.2/1.3) are enabled.</a:t>
            </a:r>
          </a:p>
          <a:p>
            <a:pP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Perform SMTP security tests</a:t>
            </a:r>
            <a:r>
              <a:rPr lang="en-US" sz="2000" dirty="0">
                <a:latin typeface="Times New Roman" panose="02020603050405020304" pitchFamily="18" charset="0"/>
                <a:cs typeface="Times New Roman" panose="02020603050405020304" pitchFamily="18" charset="0"/>
              </a:rPr>
              <a:t> for SPF, DKIM, and DMARC to confirm email authenticity and anti-spoofing measures.</a:t>
            </a:r>
          </a:p>
        </p:txBody>
      </p:sp>
      <p:pic>
        <p:nvPicPr>
          <p:cNvPr id="7" name="Picture 6" descr="A diagram of a computer network&#10;&#10;AI-generated content may be incorrect.">
            <a:extLst>
              <a:ext uri="{FF2B5EF4-FFF2-40B4-BE49-F238E27FC236}">
                <a16:creationId xmlns:a16="http://schemas.microsoft.com/office/drawing/2014/main" id="{E4109202-5B80-D2CA-35DA-D393BEE20B72}"/>
              </a:ext>
            </a:extLst>
          </p:cNvPr>
          <p:cNvPicPr>
            <a:picLocks noChangeAspect="1"/>
          </p:cNvPicPr>
          <p:nvPr/>
        </p:nvPicPr>
        <p:blipFill>
          <a:blip r:embed="rId5"/>
          <a:stretch>
            <a:fillRect/>
          </a:stretch>
        </p:blipFill>
        <p:spPr>
          <a:xfrm>
            <a:off x="7315555" y="1602528"/>
            <a:ext cx="4876445" cy="5255472"/>
          </a:xfrm>
          <a:prstGeom prst="rect">
            <a:avLst/>
          </a:prstGeom>
        </p:spPr>
      </p:pic>
      <p:sp>
        <p:nvSpPr>
          <p:cNvPr id="8" name="TextBox 7">
            <a:extLst>
              <a:ext uri="{FF2B5EF4-FFF2-40B4-BE49-F238E27FC236}">
                <a16:creationId xmlns:a16="http://schemas.microsoft.com/office/drawing/2014/main" id="{2DA11D82-0B88-912E-6A60-3B9AC60F9B98}"/>
              </a:ext>
            </a:extLst>
          </p:cNvPr>
          <p:cNvSpPr txBox="1"/>
          <p:nvPr/>
        </p:nvSpPr>
        <p:spPr>
          <a:xfrm>
            <a:off x="7369709" y="1602528"/>
            <a:ext cx="3071015"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OUTPUT:</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30301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0D681F9F-20C1-D5D0-051F-F94A7958498C}"/>
              </a:ext>
            </a:extLst>
          </p:cNvPr>
          <p:cNvPicPr>
            <a:picLocks noChangeAspect="1"/>
          </p:cNvPicPr>
          <p:nvPr/>
        </p:nvPicPr>
        <p:blipFill>
          <a:blip r:embed="rId2"/>
          <a:stretch>
            <a:fillRect/>
          </a:stretch>
        </p:blipFill>
        <p:spPr>
          <a:xfrm>
            <a:off x="210667" y="191626"/>
            <a:ext cx="1135116" cy="1342883"/>
          </a:xfrm>
          <a:prstGeom prst="rect">
            <a:avLst/>
          </a:prstGeom>
        </p:spPr>
      </p:pic>
      <p:pic>
        <p:nvPicPr>
          <p:cNvPr id="3" name="picture 4">
            <a:extLst>
              <a:ext uri="{FF2B5EF4-FFF2-40B4-BE49-F238E27FC236}">
                <a16:creationId xmlns:a16="http://schemas.microsoft.com/office/drawing/2014/main" id="{700BF6E1-433F-4D7B-45D5-89B1BD3EE777}"/>
              </a:ext>
            </a:extLst>
          </p:cNvPr>
          <p:cNvPicPr>
            <a:picLocks noChangeAspect="1"/>
          </p:cNvPicPr>
          <p:nvPr/>
        </p:nvPicPr>
        <p:blipFill>
          <a:blip r:embed="rId3"/>
          <a:stretch>
            <a:fillRect/>
          </a:stretch>
        </p:blipFill>
        <p:spPr>
          <a:xfrm>
            <a:off x="10514231" y="191626"/>
            <a:ext cx="1520114" cy="1342883"/>
          </a:xfrm>
          <a:prstGeom prst="rect">
            <a:avLst/>
          </a:prstGeom>
        </p:spPr>
      </p:pic>
      <p:sp>
        <p:nvSpPr>
          <p:cNvPr id="4" name="TextBox 3">
            <a:extLst>
              <a:ext uri="{FF2B5EF4-FFF2-40B4-BE49-F238E27FC236}">
                <a16:creationId xmlns:a16="http://schemas.microsoft.com/office/drawing/2014/main" id="{55B14187-3475-7410-1DA8-151449FE214B}"/>
              </a:ext>
            </a:extLst>
          </p:cNvPr>
          <p:cNvSpPr txBox="1"/>
          <p:nvPr/>
        </p:nvSpPr>
        <p:spPr>
          <a:xfrm>
            <a:off x="3262122" y="586068"/>
            <a:ext cx="6949440" cy="553998"/>
          </a:xfrm>
          <a:prstGeom prst="rect">
            <a:avLst/>
          </a:prstGeom>
          <a:noFill/>
        </p:spPr>
        <p:txBody>
          <a:bodyPr wrap="square" rtlCol="0">
            <a:spAutoFit/>
          </a:bodyPr>
          <a:lstStyle/>
          <a:p>
            <a:r>
              <a:rPr lang="en-US" sz="3000" b="1" dirty="0">
                <a:solidFill>
                  <a:schemeClr val="accent4">
                    <a:lumMod val="50000"/>
                  </a:schemeClr>
                </a:solidFill>
                <a:latin typeface="Times New Roman" panose="02020603050405020304" pitchFamily="18" charset="0"/>
                <a:cs typeface="Times New Roman" panose="02020603050405020304" pitchFamily="18" charset="0"/>
              </a:rPr>
              <a:t>RESULTS &amp; DISCUSISON</a:t>
            </a:r>
            <a:endParaRPr lang="en-IN" sz="3000" b="1"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45449AD2-88D0-3872-1296-3D7D58126F5D}"/>
              </a:ext>
            </a:extLst>
          </p:cNvPr>
          <p:cNvSpPr>
            <a:spLocks noChangeArrowheads="1"/>
          </p:cNvSpPr>
          <p:nvPr/>
        </p:nvSpPr>
        <p:spPr bwMode="auto">
          <a:xfrm rot="10800000" flipV="1">
            <a:off x="303276" y="2523297"/>
            <a:ext cx="11420856" cy="3277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successfully transmitted emails securely using SMTP over SSL/TLS.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Encryption effectively protected data from eavesdropping and MITM attacks.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TLS ensured strong authentication and maintained email integrity.</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System performance remained efficient with minimal encryption overhead.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interface allowed easy secure email sending with consistent TLS verification logs.</a:t>
            </a:r>
          </a:p>
        </p:txBody>
      </p:sp>
    </p:spTree>
    <p:extLst>
      <p:ext uri="{BB962C8B-B14F-4D97-AF65-F5344CB8AC3E}">
        <p14:creationId xmlns:p14="http://schemas.microsoft.com/office/powerpoint/2010/main" val="2694667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1AA5D-0555-086B-51B5-4770BA0C2D72}"/>
            </a:ext>
          </a:extLst>
        </p:cNvPr>
        <p:cNvGrpSpPr/>
        <p:nvPr/>
      </p:nvGrpSpPr>
      <p:grpSpPr>
        <a:xfrm>
          <a:off x="0" y="0"/>
          <a:ext cx="0" cy="0"/>
          <a:chOff x="0" y="0"/>
          <a:chExt cx="0" cy="0"/>
        </a:xfrm>
      </p:grpSpPr>
      <p:pic>
        <p:nvPicPr>
          <p:cNvPr id="2" name="picture 6">
            <a:extLst>
              <a:ext uri="{FF2B5EF4-FFF2-40B4-BE49-F238E27FC236}">
                <a16:creationId xmlns:a16="http://schemas.microsoft.com/office/drawing/2014/main" id="{E22A6704-687C-093E-AAD4-3781115C74E4}"/>
              </a:ext>
            </a:extLst>
          </p:cNvPr>
          <p:cNvPicPr>
            <a:picLocks noChangeAspect="1"/>
          </p:cNvPicPr>
          <p:nvPr/>
        </p:nvPicPr>
        <p:blipFill>
          <a:blip r:embed="rId2"/>
          <a:stretch>
            <a:fillRect/>
          </a:stretch>
        </p:blipFill>
        <p:spPr>
          <a:xfrm>
            <a:off x="210667" y="191626"/>
            <a:ext cx="1135116" cy="1342883"/>
          </a:xfrm>
          <a:prstGeom prst="rect">
            <a:avLst/>
          </a:prstGeom>
        </p:spPr>
      </p:pic>
      <p:pic>
        <p:nvPicPr>
          <p:cNvPr id="3" name="picture 4">
            <a:extLst>
              <a:ext uri="{FF2B5EF4-FFF2-40B4-BE49-F238E27FC236}">
                <a16:creationId xmlns:a16="http://schemas.microsoft.com/office/drawing/2014/main" id="{B04810CE-D9A4-B72E-849D-1B61F51FDD8A}"/>
              </a:ext>
            </a:extLst>
          </p:cNvPr>
          <p:cNvPicPr>
            <a:picLocks noChangeAspect="1"/>
          </p:cNvPicPr>
          <p:nvPr/>
        </p:nvPicPr>
        <p:blipFill>
          <a:blip r:embed="rId3"/>
          <a:stretch>
            <a:fillRect/>
          </a:stretch>
        </p:blipFill>
        <p:spPr>
          <a:xfrm>
            <a:off x="10514231" y="191626"/>
            <a:ext cx="1520114" cy="1342883"/>
          </a:xfrm>
          <a:prstGeom prst="rect">
            <a:avLst/>
          </a:prstGeom>
        </p:spPr>
      </p:pic>
      <p:sp>
        <p:nvSpPr>
          <p:cNvPr id="4" name="TextBox 3">
            <a:extLst>
              <a:ext uri="{FF2B5EF4-FFF2-40B4-BE49-F238E27FC236}">
                <a16:creationId xmlns:a16="http://schemas.microsoft.com/office/drawing/2014/main" id="{B391E82F-5FCD-4E9C-ECA3-2711C09D30B7}"/>
              </a:ext>
            </a:extLst>
          </p:cNvPr>
          <p:cNvSpPr txBox="1"/>
          <p:nvPr/>
        </p:nvSpPr>
        <p:spPr>
          <a:xfrm>
            <a:off x="2852547" y="617979"/>
            <a:ext cx="6958584" cy="553998"/>
          </a:xfrm>
          <a:prstGeom prst="rect">
            <a:avLst/>
          </a:prstGeom>
          <a:noFill/>
        </p:spPr>
        <p:txBody>
          <a:bodyPr wrap="square" rtlCol="0">
            <a:spAutoFit/>
          </a:bodyPr>
          <a:lstStyle/>
          <a:p>
            <a:r>
              <a:rPr lang="en-US" sz="3000" b="1" dirty="0">
                <a:solidFill>
                  <a:schemeClr val="accent4">
                    <a:lumMod val="50000"/>
                  </a:schemeClr>
                </a:solidFill>
                <a:latin typeface="Times New Roman" panose="02020603050405020304" pitchFamily="18" charset="0"/>
                <a:cs typeface="Times New Roman" panose="02020603050405020304" pitchFamily="18" charset="0"/>
              </a:rPr>
              <a:t>CHALLENGES &amp; LIMITATIONS</a:t>
            </a:r>
            <a:endParaRPr lang="en-IN" sz="3000" b="1"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E2A0C9F8-249C-CA19-C8D4-15474DB8832F}"/>
              </a:ext>
            </a:extLst>
          </p:cNvPr>
          <p:cNvSpPr>
            <a:spLocks noChangeArrowheads="1"/>
          </p:cNvSpPr>
          <p:nvPr/>
        </p:nvSpPr>
        <p:spPr bwMode="auto">
          <a:xfrm rot="10800000" flipV="1">
            <a:off x="449580" y="2159352"/>
            <a:ext cx="11292840" cy="3631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SSL/TLS Configuration Can Be Complex And Requires Proper Certificate Management.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Compatibility Issues May Occur With Older Email Servers That Do Not Fully Support </a:t>
            </a:r>
            <a:r>
              <a:rPr kumimoji="0" lang="en-US" altLang="en-US" sz="23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Tls</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Network Latency May Slightly Increase Due To Encryption Overhead.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Security Depends On Strong Passwords And Correct Client-server Settings.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Cannot Prevent Attacks Once The Email Reaches The Recipient Server (End-to-end Encryption Not Provided).</a:t>
            </a:r>
          </a:p>
        </p:txBody>
      </p:sp>
    </p:spTree>
    <p:extLst>
      <p:ext uri="{BB962C8B-B14F-4D97-AF65-F5344CB8AC3E}">
        <p14:creationId xmlns:p14="http://schemas.microsoft.com/office/powerpoint/2010/main" val="40230002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15A40-769F-8FF5-6CB7-F05F112B0CAF}"/>
            </a:ext>
          </a:extLst>
        </p:cNvPr>
        <p:cNvGrpSpPr/>
        <p:nvPr/>
      </p:nvGrpSpPr>
      <p:grpSpPr>
        <a:xfrm>
          <a:off x="0" y="0"/>
          <a:ext cx="0" cy="0"/>
          <a:chOff x="0" y="0"/>
          <a:chExt cx="0" cy="0"/>
        </a:xfrm>
      </p:grpSpPr>
      <p:pic>
        <p:nvPicPr>
          <p:cNvPr id="2" name="picture 6">
            <a:extLst>
              <a:ext uri="{FF2B5EF4-FFF2-40B4-BE49-F238E27FC236}">
                <a16:creationId xmlns:a16="http://schemas.microsoft.com/office/drawing/2014/main" id="{4326C48A-6CD0-11CE-DA23-C71D19923840}"/>
              </a:ext>
            </a:extLst>
          </p:cNvPr>
          <p:cNvPicPr>
            <a:picLocks noChangeAspect="1"/>
          </p:cNvPicPr>
          <p:nvPr/>
        </p:nvPicPr>
        <p:blipFill>
          <a:blip r:embed="rId2"/>
          <a:stretch>
            <a:fillRect/>
          </a:stretch>
        </p:blipFill>
        <p:spPr>
          <a:xfrm>
            <a:off x="210667" y="191626"/>
            <a:ext cx="1135116" cy="1342883"/>
          </a:xfrm>
          <a:prstGeom prst="rect">
            <a:avLst/>
          </a:prstGeom>
        </p:spPr>
      </p:pic>
      <p:pic>
        <p:nvPicPr>
          <p:cNvPr id="3" name="picture 4">
            <a:extLst>
              <a:ext uri="{FF2B5EF4-FFF2-40B4-BE49-F238E27FC236}">
                <a16:creationId xmlns:a16="http://schemas.microsoft.com/office/drawing/2014/main" id="{30E9BEBD-84C5-9584-3FDF-A29E823D8B5B}"/>
              </a:ext>
            </a:extLst>
          </p:cNvPr>
          <p:cNvPicPr>
            <a:picLocks noChangeAspect="1"/>
          </p:cNvPicPr>
          <p:nvPr/>
        </p:nvPicPr>
        <p:blipFill>
          <a:blip r:embed="rId3"/>
          <a:stretch>
            <a:fillRect/>
          </a:stretch>
        </p:blipFill>
        <p:spPr>
          <a:xfrm>
            <a:off x="10514231" y="191626"/>
            <a:ext cx="1520114" cy="1342883"/>
          </a:xfrm>
          <a:prstGeom prst="rect">
            <a:avLst/>
          </a:prstGeom>
        </p:spPr>
      </p:pic>
      <p:sp>
        <p:nvSpPr>
          <p:cNvPr id="4" name="Rectangle 1">
            <a:extLst>
              <a:ext uri="{FF2B5EF4-FFF2-40B4-BE49-F238E27FC236}">
                <a16:creationId xmlns:a16="http://schemas.microsoft.com/office/drawing/2014/main" id="{1959AECC-5DE3-FB71-E7F8-DFF7D37CEEED}"/>
              </a:ext>
            </a:extLst>
          </p:cNvPr>
          <p:cNvSpPr>
            <a:spLocks noChangeArrowheads="1"/>
          </p:cNvSpPr>
          <p:nvPr/>
        </p:nvSpPr>
        <p:spPr bwMode="auto">
          <a:xfrm rot="10308086" flipV="1">
            <a:off x="390985" y="3720333"/>
            <a:ext cx="11643360"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EC9A277-F9FD-E0A1-B263-CFA3E02A939B}"/>
              </a:ext>
            </a:extLst>
          </p:cNvPr>
          <p:cNvSpPr txBox="1"/>
          <p:nvPr/>
        </p:nvSpPr>
        <p:spPr>
          <a:xfrm>
            <a:off x="4065430" y="488593"/>
            <a:ext cx="5650992" cy="553998"/>
          </a:xfrm>
          <a:prstGeom prst="rect">
            <a:avLst/>
          </a:prstGeom>
          <a:noFill/>
        </p:spPr>
        <p:txBody>
          <a:bodyPr wrap="square" rtlCol="0">
            <a:spAutoFit/>
          </a:bodyPr>
          <a:lstStyle/>
          <a:p>
            <a:r>
              <a:rPr lang="en-US" b="1" dirty="0">
                <a:solidFill>
                  <a:schemeClr val="accent4">
                    <a:lumMod val="50000"/>
                  </a:schemeClr>
                </a:solidFill>
                <a:effectLst>
                  <a:outerShdw blurRad="38100" dist="38100" dir="2700000" algn="tl">
                    <a:srgbClr val="000000">
                      <a:alpha val="43137"/>
                    </a:srgbClr>
                  </a:outerShdw>
                </a:effectLst>
              </a:rPr>
              <a:t> </a:t>
            </a:r>
            <a:r>
              <a:rPr lang="en-US" sz="3000" b="1" dirty="0">
                <a:solidFill>
                  <a:schemeClr val="accent4">
                    <a:lumMod val="50000"/>
                  </a:schemeClr>
                </a:solidFill>
                <a:latin typeface="Times New Roman" panose="02020603050405020304" pitchFamily="18" charset="0"/>
                <a:cs typeface="Times New Roman" panose="02020603050405020304" pitchFamily="18" charset="0"/>
              </a:rPr>
              <a:t>FUTURE</a:t>
            </a:r>
            <a:r>
              <a:rPr lang="en-US" sz="3000" b="1" dirty="0">
                <a:solidFill>
                  <a:schemeClr val="accent4">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3000" b="1" dirty="0">
                <a:solidFill>
                  <a:schemeClr val="accent4">
                    <a:lumMod val="50000"/>
                  </a:schemeClr>
                </a:solidFill>
                <a:latin typeface="Times New Roman" panose="02020603050405020304" pitchFamily="18" charset="0"/>
                <a:cs typeface="Times New Roman" panose="02020603050405020304" pitchFamily="18" charset="0"/>
              </a:rPr>
              <a:t>SCOPE</a:t>
            </a:r>
            <a:endParaRPr lang="en-IN" b="1" dirty="0">
              <a:solidFill>
                <a:schemeClr val="accent4">
                  <a:lumMod val="50000"/>
                </a:schemeClr>
              </a:solidFill>
            </a:endParaRPr>
          </a:p>
        </p:txBody>
      </p:sp>
      <p:sp>
        <p:nvSpPr>
          <p:cNvPr id="6" name="Rectangle 1">
            <a:extLst>
              <a:ext uri="{FF2B5EF4-FFF2-40B4-BE49-F238E27FC236}">
                <a16:creationId xmlns:a16="http://schemas.microsoft.com/office/drawing/2014/main" id="{6B636B51-884B-890A-1AF7-A1B54461DEA8}"/>
              </a:ext>
            </a:extLst>
          </p:cNvPr>
          <p:cNvSpPr>
            <a:spLocks noChangeArrowheads="1"/>
          </p:cNvSpPr>
          <p:nvPr/>
        </p:nvSpPr>
        <p:spPr bwMode="auto">
          <a:xfrm rot="10800000" flipV="1">
            <a:off x="157655" y="1803813"/>
            <a:ext cx="6530224" cy="50937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dirty="0">
                <a:latin typeface="Times New Roman" panose="02020603050405020304" pitchFamily="18" charset="0"/>
                <a:cs typeface="Times New Roman" panose="02020603050405020304" pitchFamily="18" charset="0"/>
              </a:rPr>
              <a:t>It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highlights the use of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advanced encryption algorithms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further strengthen email security and protect sensitive data from cyber threats.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emphasizes a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user-friendly interface design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make secure email communication simple and easy for all users.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system’s future scope includes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integration with anti-spam systems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detect and block malicious or unwanted emails effectively.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supports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mobile platforms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allowing users to send and receive encrypted emails securely on smartphones and tablets.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Overall, it shows how the system can evolve to provide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more secure, efficient, and accessible email communication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the future.</a:t>
            </a:r>
          </a:p>
        </p:txBody>
      </p:sp>
      <p:sp>
        <p:nvSpPr>
          <p:cNvPr id="8" name="AutoShape 5">
            <a:extLst>
              <a:ext uri="{FF2B5EF4-FFF2-40B4-BE49-F238E27FC236}">
                <a16:creationId xmlns:a16="http://schemas.microsoft.com/office/drawing/2014/main" id="{7D05E6F8-79B7-A576-0C7B-41ACC1464959}"/>
              </a:ext>
            </a:extLst>
          </p:cNvPr>
          <p:cNvSpPr>
            <a:spLocks noChangeAspect="1" noChangeArrowheads="1"/>
          </p:cNvSpPr>
          <p:nvPr/>
        </p:nvSpPr>
        <p:spPr bwMode="auto">
          <a:xfrm>
            <a:off x="5943599" y="3276599"/>
            <a:ext cx="4369981" cy="436998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Picture 10">
            <a:extLst>
              <a:ext uri="{FF2B5EF4-FFF2-40B4-BE49-F238E27FC236}">
                <a16:creationId xmlns:a16="http://schemas.microsoft.com/office/drawing/2014/main" id="{DBCD3410-9C1E-A2D6-7055-95E2FD29B55A}"/>
              </a:ext>
            </a:extLst>
          </p:cNvPr>
          <p:cNvPicPr>
            <a:picLocks noChangeAspect="1"/>
          </p:cNvPicPr>
          <p:nvPr/>
        </p:nvPicPr>
        <p:blipFill>
          <a:blip r:embed="rId4"/>
          <a:stretch>
            <a:fillRect/>
          </a:stretch>
        </p:blipFill>
        <p:spPr>
          <a:xfrm>
            <a:off x="6966535" y="1695171"/>
            <a:ext cx="4806802" cy="4674236"/>
          </a:xfrm>
          <a:prstGeom prst="rect">
            <a:avLst/>
          </a:prstGeom>
        </p:spPr>
      </p:pic>
    </p:spTree>
    <p:extLst>
      <p:ext uri="{BB962C8B-B14F-4D97-AF65-F5344CB8AC3E}">
        <p14:creationId xmlns:p14="http://schemas.microsoft.com/office/powerpoint/2010/main" val="30367358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32EBAF52-00D3-2104-F981-8906D49C077F}"/>
              </a:ext>
            </a:extLst>
          </p:cNvPr>
          <p:cNvPicPr>
            <a:picLocks noChangeAspect="1"/>
          </p:cNvPicPr>
          <p:nvPr/>
        </p:nvPicPr>
        <p:blipFill>
          <a:blip r:embed="rId2"/>
          <a:stretch>
            <a:fillRect/>
          </a:stretch>
        </p:blipFill>
        <p:spPr>
          <a:xfrm>
            <a:off x="210667" y="191626"/>
            <a:ext cx="1135116" cy="1342883"/>
          </a:xfrm>
          <a:prstGeom prst="rect">
            <a:avLst/>
          </a:prstGeom>
        </p:spPr>
      </p:pic>
      <p:pic>
        <p:nvPicPr>
          <p:cNvPr id="3" name="picture 4">
            <a:extLst>
              <a:ext uri="{FF2B5EF4-FFF2-40B4-BE49-F238E27FC236}">
                <a16:creationId xmlns:a16="http://schemas.microsoft.com/office/drawing/2014/main" id="{27A2572B-7104-F3C9-EF17-277302F771E2}"/>
              </a:ext>
            </a:extLst>
          </p:cNvPr>
          <p:cNvPicPr>
            <a:picLocks noChangeAspect="1"/>
          </p:cNvPicPr>
          <p:nvPr/>
        </p:nvPicPr>
        <p:blipFill>
          <a:blip r:embed="rId3"/>
          <a:stretch>
            <a:fillRect/>
          </a:stretch>
        </p:blipFill>
        <p:spPr>
          <a:xfrm>
            <a:off x="10514231" y="191626"/>
            <a:ext cx="1520114" cy="1342883"/>
          </a:xfrm>
          <a:prstGeom prst="rect">
            <a:avLst/>
          </a:prstGeom>
        </p:spPr>
      </p:pic>
      <p:sp>
        <p:nvSpPr>
          <p:cNvPr id="4" name="TextBox 3">
            <a:extLst>
              <a:ext uri="{FF2B5EF4-FFF2-40B4-BE49-F238E27FC236}">
                <a16:creationId xmlns:a16="http://schemas.microsoft.com/office/drawing/2014/main" id="{7B70390D-0EAF-023C-CCDD-20962A9D29B1}"/>
              </a:ext>
            </a:extLst>
          </p:cNvPr>
          <p:cNvSpPr txBox="1"/>
          <p:nvPr/>
        </p:nvSpPr>
        <p:spPr>
          <a:xfrm>
            <a:off x="4049423" y="483805"/>
            <a:ext cx="6400800" cy="553998"/>
          </a:xfrm>
          <a:prstGeom prst="rect">
            <a:avLst/>
          </a:prstGeom>
          <a:noFill/>
        </p:spPr>
        <p:txBody>
          <a:bodyPr wrap="square" rtlCol="0">
            <a:spAutoFit/>
          </a:bodyPr>
          <a:lstStyle/>
          <a:p>
            <a:r>
              <a:rPr lang="en-US" sz="3000" b="1" dirty="0">
                <a:solidFill>
                  <a:schemeClr val="accent4">
                    <a:lumMod val="50000"/>
                  </a:schemeClr>
                </a:solidFill>
                <a:latin typeface="Times New Roman" panose="02020603050405020304" pitchFamily="18" charset="0"/>
                <a:cs typeface="Times New Roman" panose="02020603050405020304" pitchFamily="18" charset="0"/>
              </a:rPr>
              <a:t>CONCLUSION</a:t>
            </a:r>
            <a:endParaRPr lang="en-IN" sz="3000" b="1"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453577D-3B26-30DE-454A-2430CF03B573}"/>
              </a:ext>
            </a:extLst>
          </p:cNvPr>
          <p:cNvSpPr txBox="1"/>
          <p:nvPr/>
        </p:nvSpPr>
        <p:spPr>
          <a:xfrm>
            <a:off x="416373" y="1853856"/>
            <a:ext cx="11494008" cy="4693593"/>
          </a:xfrm>
          <a:prstGeom prst="rect">
            <a:avLst/>
          </a:prstGeom>
          <a:noFill/>
        </p:spPr>
        <p:txBody>
          <a:bodyPr wrap="square">
            <a:spAutoFit/>
          </a:bodyPr>
          <a:lstStyle/>
          <a:p>
            <a:pPr marL="342900" indent="-342900">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The project successfully implements a </a:t>
            </a:r>
            <a:r>
              <a:rPr lang="en-US" sz="2300" b="1" dirty="0">
                <a:latin typeface="Times New Roman" panose="02020603050405020304" pitchFamily="18" charset="0"/>
                <a:cs typeface="Times New Roman" panose="02020603050405020304" pitchFamily="18" charset="0"/>
              </a:rPr>
              <a:t>secure email transmission system using SMTP over SSL/TLS</a:t>
            </a:r>
            <a:r>
              <a:rPr lang="en-US" sz="23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endParaRPr lang="en-US" sz="23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300" b="1" dirty="0">
                <a:latin typeface="Times New Roman" panose="02020603050405020304" pitchFamily="18" charset="0"/>
                <a:cs typeface="Times New Roman" panose="02020603050405020304" pitchFamily="18" charset="0"/>
              </a:rPr>
              <a:t>SSL/TLS encryption ensures confidentiality</a:t>
            </a:r>
            <a:r>
              <a:rPr lang="en-US" sz="2300" dirty="0">
                <a:latin typeface="Times New Roman" panose="02020603050405020304" pitchFamily="18" charset="0"/>
                <a:cs typeface="Times New Roman" panose="02020603050405020304" pitchFamily="18" charset="0"/>
              </a:rPr>
              <a:t> and protects email data from interception during transmission.</a:t>
            </a:r>
          </a:p>
          <a:p>
            <a:pPr marL="342900" indent="-342900">
              <a:buFont typeface="Arial" panose="020B0604020202020204" pitchFamily="34" charset="0"/>
              <a:buChar char="•"/>
            </a:pPr>
            <a:endParaRPr lang="en-US" sz="23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The system effectively prevents </a:t>
            </a:r>
            <a:r>
              <a:rPr lang="en-US" sz="2300" b="1" dirty="0">
                <a:latin typeface="Times New Roman" panose="02020603050405020304" pitchFamily="18" charset="0"/>
                <a:cs typeface="Times New Roman" panose="02020603050405020304" pitchFamily="18" charset="0"/>
              </a:rPr>
              <a:t>eavesdropping, spoofing, and man-in-the-middle attacks</a:t>
            </a:r>
            <a:r>
              <a:rPr lang="en-US" sz="23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endParaRPr lang="en-US" sz="23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300" b="1" dirty="0">
                <a:latin typeface="Times New Roman" panose="02020603050405020304" pitchFamily="18" charset="0"/>
                <a:cs typeface="Times New Roman" panose="02020603050405020304" pitchFamily="18" charset="0"/>
              </a:rPr>
              <a:t>Certificate-based authentication</a:t>
            </a:r>
            <a:r>
              <a:rPr lang="en-US" sz="2300" dirty="0">
                <a:latin typeface="Times New Roman" panose="02020603050405020304" pitchFamily="18" charset="0"/>
                <a:cs typeface="Times New Roman" panose="02020603050405020304" pitchFamily="18" charset="0"/>
              </a:rPr>
              <a:t> verifies server identity and enhances trust in email communication.</a:t>
            </a:r>
          </a:p>
          <a:p>
            <a:pPr marL="342900" indent="-342900">
              <a:buFont typeface="Arial" panose="020B0604020202020204" pitchFamily="34" charset="0"/>
              <a:buChar char="•"/>
            </a:pPr>
            <a:endParaRPr lang="en-US" sz="23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Testing confirms that </a:t>
            </a:r>
            <a:r>
              <a:rPr lang="en-US" sz="2300" b="1" dirty="0">
                <a:latin typeface="Times New Roman" panose="02020603050405020304" pitchFamily="18" charset="0"/>
                <a:cs typeface="Times New Roman" panose="02020603050405020304" pitchFamily="18" charset="0"/>
              </a:rPr>
              <a:t>security enhancements do not significantly impact performance</a:t>
            </a:r>
            <a:r>
              <a:rPr lang="en-US" sz="23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endParaRPr lang="en-IN"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61683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A9EA199-6898-4135-2D75-409E92154A35}"/>
              </a:ext>
            </a:extLst>
          </p:cNvPr>
          <p:cNvSpPr txBox="1"/>
          <p:nvPr/>
        </p:nvSpPr>
        <p:spPr>
          <a:xfrm>
            <a:off x="3931920" y="506451"/>
            <a:ext cx="7571232" cy="553998"/>
          </a:xfrm>
          <a:prstGeom prst="rect">
            <a:avLst/>
          </a:prstGeom>
          <a:noFill/>
        </p:spPr>
        <p:txBody>
          <a:bodyPr wrap="square" rtlCol="0">
            <a:spAutoFit/>
          </a:bodyPr>
          <a:lstStyle/>
          <a:p>
            <a:r>
              <a:rPr lang="en-US" sz="3000" b="1" dirty="0">
                <a:solidFill>
                  <a:schemeClr val="accent4">
                    <a:lumMod val="50000"/>
                  </a:schemeClr>
                </a:solidFill>
                <a:latin typeface="Times New Roman" panose="02020603050405020304" pitchFamily="18" charset="0"/>
                <a:cs typeface="Times New Roman" panose="02020603050405020304" pitchFamily="18" charset="0"/>
              </a:rPr>
              <a:t>REFERENCES</a:t>
            </a:r>
            <a:endParaRPr lang="en-IN" sz="3000" b="1" dirty="0">
              <a:solidFill>
                <a:schemeClr val="accent4">
                  <a:lumMod val="50000"/>
                </a:schemeClr>
              </a:solidFill>
              <a:latin typeface="Times New Roman" panose="02020603050405020304" pitchFamily="18" charset="0"/>
              <a:cs typeface="Times New Roman" panose="02020603050405020304" pitchFamily="18" charset="0"/>
            </a:endParaRPr>
          </a:p>
        </p:txBody>
      </p:sp>
      <p:pic>
        <p:nvPicPr>
          <p:cNvPr id="3" name="picture 6">
            <a:extLst>
              <a:ext uri="{FF2B5EF4-FFF2-40B4-BE49-F238E27FC236}">
                <a16:creationId xmlns:a16="http://schemas.microsoft.com/office/drawing/2014/main" id="{133A94E8-4B0B-C096-8611-30267A79AEAA}"/>
              </a:ext>
            </a:extLst>
          </p:cNvPr>
          <p:cNvPicPr>
            <a:picLocks noChangeAspect="1"/>
          </p:cNvPicPr>
          <p:nvPr/>
        </p:nvPicPr>
        <p:blipFill>
          <a:blip r:embed="rId2"/>
          <a:stretch>
            <a:fillRect/>
          </a:stretch>
        </p:blipFill>
        <p:spPr>
          <a:xfrm>
            <a:off x="210667" y="191626"/>
            <a:ext cx="1135116" cy="1342883"/>
          </a:xfrm>
          <a:prstGeom prst="rect">
            <a:avLst/>
          </a:prstGeom>
        </p:spPr>
      </p:pic>
      <p:pic>
        <p:nvPicPr>
          <p:cNvPr id="4" name="picture 4">
            <a:extLst>
              <a:ext uri="{FF2B5EF4-FFF2-40B4-BE49-F238E27FC236}">
                <a16:creationId xmlns:a16="http://schemas.microsoft.com/office/drawing/2014/main" id="{E5CE8A48-BA39-A33F-93E4-3075E09D535D}"/>
              </a:ext>
            </a:extLst>
          </p:cNvPr>
          <p:cNvPicPr>
            <a:picLocks noChangeAspect="1"/>
          </p:cNvPicPr>
          <p:nvPr/>
        </p:nvPicPr>
        <p:blipFill>
          <a:blip r:embed="rId3"/>
          <a:stretch>
            <a:fillRect/>
          </a:stretch>
        </p:blipFill>
        <p:spPr>
          <a:xfrm>
            <a:off x="10514231" y="191626"/>
            <a:ext cx="1520114" cy="1342883"/>
          </a:xfrm>
          <a:prstGeom prst="rect">
            <a:avLst/>
          </a:prstGeom>
        </p:spPr>
      </p:pic>
      <p:graphicFrame>
        <p:nvGraphicFramePr>
          <p:cNvPr id="6" name="Table 5">
            <a:extLst>
              <a:ext uri="{FF2B5EF4-FFF2-40B4-BE49-F238E27FC236}">
                <a16:creationId xmlns:a16="http://schemas.microsoft.com/office/drawing/2014/main" id="{AEC0E5D8-697A-6179-6824-FF9C6D054875}"/>
              </a:ext>
            </a:extLst>
          </p:cNvPr>
          <p:cNvGraphicFramePr>
            <a:graphicFrameLocks noGrp="1"/>
          </p:cNvGraphicFramePr>
          <p:nvPr>
            <p:extLst>
              <p:ext uri="{D42A27DB-BD31-4B8C-83A1-F6EECF244321}">
                <p14:modId xmlns:p14="http://schemas.microsoft.com/office/powerpoint/2010/main" val="3991161463"/>
              </p:ext>
            </p:extLst>
          </p:nvPr>
        </p:nvGraphicFramePr>
        <p:xfrm>
          <a:off x="503097" y="1849334"/>
          <a:ext cx="11185805" cy="5018536"/>
        </p:xfrm>
        <a:graphic>
          <a:graphicData uri="http://schemas.openxmlformats.org/drawingml/2006/table">
            <a:tbl>
              <a:tblPr/>
              <a:tblGrid>
                <a:gridCol w="11185805">
                  <a:extLst>
                    <a:ext uri="{9D8B030D-6E8A-4147-A177-3AD203B41FA5}">
                      <a16:colId xmlns:a16="http://schemas.microsoft.com/office/drawing/2014/main" val="3821662119"/>
                    </a:ext>
                  </a:extLst>
                </a:gridCol>
              </a:tblGrid>
              <a:tr h="4315910">
                <a:tc>
                  <a:txBody>
                    <a:bodyPr/>
                    <a:lstStyle/>
                    <a:p>
                      <a:pPr marL="342900" indent="-342900" fontAlgn="t">
                        <a:buFont typeface="Arial" panose="020B0604020202020204" pitchFamily="34" charset="0"/>
                        <a:buChar char="•"/>
                      </a:pPr>
                      <a:r>
                        <a:rPr lang="en-IN" sz="2000" b="0" i="0" kern="1200" dirty="0">
                          <a:solidFill>
                            <a:schemeClr val="tx1"/>
                          </a:solidFill>
                          <a:effectLst/>
                          <a:latin typeface="Times New Roman" panose="02020603050405020304" pitchFamily="18" charset="0"/>
                          <a:ea typeface="+mn-ea"/>
                          <a:cs typeface="Times New Roman" panose="02020603050405020304" pitchFamily="18" charset="0"/>
                        </a:rPr>
                        <a:t>Kumar, </a:t>
                      </a:r>
                      <a:r>
                        <a:rPr lang="en-IN" sz="2000" b="0" i="0" kern="1200" dirty="0" err="1">
                          <a:solidFill>
                            <a:schemeClr val="tx1"/>
                          </a:solidFill>
                          <a:effectLst/>
                          <a:latin typeface="Times New Roman" panose="02020603050405020304" pitchFamily="18" charset="0"/>
                          <a:ea typeface="+mn-ea"/>
                          <a:cs typeface="Times New Roman" panose="02020603050405020304" pitchFamily="18" charset="0"/>
                        </a:rPr>
                        <a:t>Darapureddy</a:t>
                      </a:r>
                      <a:r>
                        <a:rPr lang="en-IN" sz="2000" b="0" i="0" kern="1200" dirty="0">
                          <a:solidFill>
                            <a:schemeClr val="tx1"/>
                          </a:solidFill>
                          <a:effectLst/>
                          <a:latin typeface="Times New Roman" panose="02020603050405020304" pitchFamily="18" charset="0"/>
                          <a:ea typeface="+mn-ea"/>
                          <a:cs typeface="Times New Roman" panose="02020603050405020304" pitchFamily="18" charset="0"/>
                        </a:rPr>
                        <a:t> Devendra, et al. "Safe and secure communication using SSL/TLS." </a:t>
                      </a:r>
                      <a:r>
                        <a:rPr lang="en-IN" sz="2000" b="0" i="1" kern="1200" dirty="0">
                          <a:solidFill>
                            <a:schemeClr val="tx1"/>
                          </a:solidFill>
                          <a:effectLst/>
                          <a:latin typeface="Times New Roman" panose="02020603050405020304" pitchFamily="18" charset="0"/>
                          <a:ea typeface="+mn-ea"/>
                          <a:cs typeface="Times New Roman" panose="02020603050405020304" pitchFamily="18" charset="0"/>
                        </a:rPr>
                        <a:t>2024 International Conference on Emerging Smart Computing and Informatics (ESCI)</a:t>
                      </a:r>
                      <a:r>
                        <a:rPr lang="en-IN" sz="2000" b="0" i="0" kern="1200" dirty="0">
                          <a:solidFill>
                            <a:schemeClr val="tx1"/>
                          </a:solidFill>
                          <a:effectLst/>
                          <a:latin typeface="Times New Roman" panose="02020603050405020304" pitchFamily="18" charset="0"/>
                          <a:ea typeface="+mn-ea"/>
                          <a:cs typeface="Times New Roman" panose="02020603050405020304" pitchFamily="18" charset="0"/>
                        </a:rPr>
                        <a:t>. IEEE, 2024.</a:t>
                      </a:r>
                    </a:p>
                    <a:p>
                      <a:pPr marL="342900" indent="-342900" fontAlgn="t">
                        <a:buFont typeface="Arial" panose="020B0604020202020204" pitchFamily="34" charset="0"/>
                        <a:buChar char="•"/>
                      </a:pPr>
                      <a:endParaRPr lang="en-IN" sz="2000" b="0" i="1" kern="1200" dirty="0">
                        <a:solidFill>
                          <a:schemeClr val="tx1"/>
                        </a:solidFill>
                        <a:effectLst/>
                        <a:latin typeface="Times New Roman" panose="02020603050405020304" pitchFamily="18" charset="0"/>
                        <a:ea typeface="+mn-ea"/>
                        <a:cs typeface="Times New Roman" panose="02020603050405020304" pitchFamily="18" charset="0"/>
                      </a:endParaRPr>
                    </a:p>
                    <a:p>
                      <a:pPr marL="342900" indent="-342900" fontAlgn="t">
                        <a:buFont typeface="Arial" panose="020B0604020202020204" pitchFamily="34" charset="0"/>
                        <a:buChar char="•"/>
                      </a:pPr>
                      <a:r>
                        <a:rPr lang="en-US" sz="2000" b="0" i="1" kern="1200" dirty="0" err="1">
                          <a:solidFill>
                            <a:schemeClr val="tx1"/>
                          </a:solidFill>
                          <a:effectLst/>
                          <a:latin typeface="Times New Roman" panose="02020603050405020304" pitchFamily="18" charset="0"/>
                          <a:ea typeface="+mn-ea"/>
                          <a:cs typeface="Times New Roman" panose="02020603050405020304" pitchFamily="18" charset="0"/>
                        </a:rPr>
                        <a:t>Goméz</a:t>
                      </a:r>
                      <a:r>
                        <a:rPr lang="en-US" sz="2000" b="0" i="1" kern="1200" dirty="0">
                          <a:solidFill>
                            <a:schemeClr val="tx1"/>
                          </a:solidFill>
                          <a:effectLst/>
                          <a:latin typeface="Times New Roman" panose="02020603050405020304" pitchFamily="18" charset="0"/>
                          <a:ea typeface="+mn-ea"/>
                          <a:cs typeface="Times New Roman" panose="02020603050405020304" pitchFamily="18" charset="0"/>
                        </a:rPr>
                        <a:t> Villanueva, Daniel. "Secure E-mail System for Cloud Portals: Master Thesis in Information and Communication Systems Security." </a:t>
                      </a:r>
                      <a:r>
                        <a:rPr lang="en-US" sz="2000" b="0" i="1" kern="1200">
                          <a:solidFill>
                            <a:schemeClr val="tx1"/>
                          </a:solidFill>
                          <a:effectLst/>
                          <a:latin typeface="Times New Roman" panose="02020603050405020304" pitchFamily="18" charset="0"/>
                          <a:ea typeface="+mn-ea"/>
                          <a:cs typeface="Times New Roman" panose="02020603050405020304" pitchFamily="18" charset="0"/>
                        </a:rPr>
                        <a:t>(2021).</a:t>
                      </a:r>
                      <a:endParaRPr lang="en-US" sz="2000" b="0" i="1" kern="1200" dirty="0">
                        <a:solidFill>
                          <a:schemeClr val="tx1"/>
                        </a:solidFill>
                        <a:effectLst/>
                        <a:latin typeface="Times New Roman" panose="02020603050405020304" pitchFamily="18" charset="0"/>
                        <a:ea typeface="+mn-ea"/>
                        <a:cs typeface="Times New Roman" panose="02020603050405020304" pitchFamily="18" charset="0"/>
                      </a:endParaRPr>
                    </a:p>
                    <a:p>
                      <a:pPr marL="342900" indent="-342900" fontAlgn="t">
                        <a:buFont typeface="Arial" panose="020B0604020202020204" pitchFamily="34" charset="0"/>
                        <a:buChar char="•"/>
                      </a:pPr>
                      <a:endParaRPr lang="en-US" sz="2000" b="0" i="1" kern="1200" dirty="0">
                        <a:solidFill>
                          <a:schemeClr val="tx1"/>
                        </a:solidFill>
                        <a:effectLst/>
                        <a:latin typeface="Times New Roman" panose="02020603050405020304" pitchFamily="18" charset="0"/>
                        <a:ea typeface="+mn-ea"/>
                        <a:cs typeface="Times New Roman" panose="02020603050405020304" pitchFamily="18" charset="0"/>
                      </a:endParaRPr>
                    </a:p>
                    <a:p>
                      <a:pPr marL="342900" marR="0" lvl="0" indent="-34290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r>
                        <a:rPr lang="en-US" sz="2000" b="0" i="1" kern="1200" dirty="0">
                          <a:solidFill>
                            <a:schemeClr val="tx1"/>
                          </a:solidFill>
                          <a:effectLst/>
                          <a:latin typeface="Times New Roman" panose="02020603050405020304" pitchFamily="18" charset="0"/>
                          <a:ea typeface="+mn-ea"/>
                          <a:cs typeface="Times New Roman" panose="02020603050405020304" pitchFamily="18" charset="0"/>
                        </a:rPr>
                        <a:t>Oppliger, R. (2023). SSL and TLS: Theory and Practice. Artech House</a:t>
                      </a:r>
                    </a:p>
                    <a:p>
                      <a:pPr marL="342900" marR="0" lvl="0" indent="-34290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endParaRPr lang="en-US" sz="2000" b="0" i="1" kern="1200" dirty="0">
                        <a:solidFill>
                          <a:schemeClr val="tx1"/>
                        </a:solidFill>
                        <a:effectLst/>
                        <a:latin typeface="Times New Roman" panose="02020603050405020304" pitchFamily="18" charset="0"/>
                        <a:ea typeface="+mn-ea"/>
                        <a:cs typeface="Times New Roman" panose="02020603050405020304" pitchFamily="18" charset="0"/>
                      </a:endParaRPr>
                    </a:p>
                    <a:p>
                      <a:pPr marL="285750" marR="0" lvl="0" indent="-2857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r>
                        <a:rPr lang="en-US" sz="2000" b="0" i="1" kern="1200" dirty="0">
                          <a:solidFill>
                            <a:schemeClr val="tx1"/>
                          </a:solidFill>
                          <a:effectLst/>
                          <a:latin typeface="Times New Roman" panose="02020603050405020304" pitchFamily="18" charset="0"/>
                          <a:ea typeface="+mn-ea"/>
                          <a:cs typeface="Times New Roman" panose="02020603050405020304" pitchFamily="18" charset="0"/>
                        </a:rPr>
                        <a:t>Chen, Gabriel, and Rick </a:t>
                      </a:r>
                      <a:r>
                        <a:rPr lang="en-US" sz="2000" b="0" i="1" kern="1200" dirty="0" err="1">
                          <a:solidFill>
                            <a:schemeClr val="tx1"/>
                          </a:solidFill>
                          <a:effectLst/>
                          <a:latin typeface="Times New Roman" panose="02020603050405020304" pitchFamily="18" charset="0"/>
                          <a:ea typeface="+mn-ea"/>
                          <a:cs typeface="Times New Roman" panose="02020603050405020304" pitchFamily="18" charset="0"/>
                        </a:rPr>
                        <a:t>Wanner</a:t>
                      </a:r>
                      <a:r>
                        <a:rPr lang="en-US" sz="2000" b="0" i="1" kern="1200" dirty="0">
                          <a:solidFill>
                            <a:schemeClr val="tx1"/>
                          </a:solidFill>
                          <a:effectLst/>
                          <a:latin typeface="Times New Roman" panose="02020603050405020304" pitchFamily="18" charset="0"/>
                          <a:ea typeface="+mn-ea"/>
                          <a:cs typeface="Times New Roman" panose="02020603050405020304" pitchFamily="18" charset="0"/>
                        </a:rPr>
                        <a:t>. "Secure Email Transmission Protocols--A New Architecture Design." </a:t>
                      </a:r>
                      <a:r>
                        <a:rPr lang="en-US" sz="2000" b="0" i="1" kern="1200" dirty="0" err="1">
                          <a:solidFill>
                            <a:schemeClr val="tx1"/>
                          </a:solidFill>
                          <a:effectLst/>
                          <a:latin typeface="Times New Roman" panose="02020603050405020304" pitchFamily="18" charset="0"/>
                          <a:ea typeface="+mn-ea"/>
                          <a:cs typeface="Times New Roman" panose="02020603050405020304" pitchFamily="18" charset="0"/>
                        </a:rPr>
                        <a:t>arXiv</a:t>
                      </a:r>
                      <a:r>
                        <a:rPr lang="en-US" sz="2000" b="0" i="1" kern="1200" dirty="0">
                          <a:solidFill>
                            <a:schemeClr val="tx1"/>
                          </a:solidFill>
                          <a:effectLst/>
                          <a:latin typeface="Times New Roman" panose="02020603050405020304" pitchFamily="18" charset="0"/>
                          <a:ea typeface="+mn-ea"/>
                          <a:cs typeface="Times New Roman" panose="02020603050405020304" pitchFamily="18" charset="0"/>
                        </a:rPr>
                        <a:t> preprint arXiv:2208.00388 (2022).</a:t>
                      </a:r>
                    </a:p>
                    <a:p>
                      <a:pPr marL="285750" marR="0" lvl="0" indent="-2857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endParaRPr lang="en-US" sz="2000" b="0" i="1" kern="1200" dirty="0">
                        <a:solidFill>
                          <a:schemeClr val="tx1"/>
                        </a:solidFill>
                        <a:effectLst/>
                        <a:latin typeface="Times New Roman" panose="02020603050405020304" pitchFamily="18" charset="0"/>
                        <a:ea typeface="+mn-ea"/>
                        <a:cs typeface="Times New Roman" panose="02020603050405020304" pitchFamily="18" charset="0"/>
                      </a:endParaRPr>
                    </a:p>
                    <a:p>
                      <a:pPr marL="285750" marR="0" lvl="0" indent="-2857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r>
                        <a:rPr lang="en-IN" sz="2000" b="0" i="1" kern="1200" dirty="0" err="1">
                          <a:solidFill>
                            <a:schemeClr val="tx1"/>
                          </a:solidFill>
                          <a:effectLst/>
                          <a:latin typeface="Times New Roman" panose="02020603050405020304" pitchFamily="18" charset="0"/>
                          <a:ea typeface="+mn-ea"/>
                          <a:cs typeface="Times New Roman" panose="02020603050405020304" pitchFamily="18" charset="0"/>
                        </a:rPr>
                        <a:t>Nopanen</a:t>
                      </a:r>
                      <a:r>
                        <a:rPr lang="en-IN" sz="2000" b="0" i="1" kern="1200" dirty="0">
                          <a:solidFill>
                            <a:schemeClr val="tx1"/>
                          </a:solidFill>
                          <a:effectLst/>
                          <a:latin typeface="Times New Roman" panose="02020603050405020304" pitchFamily="18" charset="0"/>
                          <a:ea typeface="+mn-ea"/>
                          <a:cs typeface="Times New Roman" panose="02020603050405020304" pitchFamily="18" charset="0"/>
                        </a:rPr>
                        <a:t>, Jukka. "Enforcing SMTP encryption: Research on current DANE and MTA-STS implementations in Finland." (2022).</a:t>
                      </a:r>
                      <a:endParaRPr lang="en-US" sz="2000" b="0" i="1" kern="1200" dirty="0">
                        <a:solidFill>
                          <a:schemeClr val="tx1"/>
                        </a:solidFill>
                        <a:effectLst/>
                        <a:latin typeface="Times New Roman" panose="02020603050405020304" pitchFamily="18" charset="0"/>
                        <a:ea typeface="+mn-ea"/>
                        <a:cs typeface="Times New Roman" panose="02020603050405020304" pitchFamily="18" charset="0"/>
                      </a:endParaRPr>
                    </a:p>
                    <a:p>
                      <a:pPr marL="0" marR="0" lvl="0" indent="0" algn="l" defTabSz="914400" rtl="0" eaLnBrk="1" fontAlgn="t" latinLnBrk="0" hangingPunct="1">
                        <a:lnSpc>
                          <a:spcPct val="100000"/>
                        </a:lnSpc>
                        <a:spcBef>
                          <a:spcPts val="0"/>
                        </a:spcBef>
                        <a:spcAft>
                          <a:spcPts val="0"/>
                        </a:spcAft>
                        <a:buClrTx/>
                        <a:buSzTx/>
                        <a:buFontTx/>
                        <a:buNone/>
                        <a:tabLst/>
                        <a:defRPr/>
                      </a:pPr>
                      <a:endParaRPr lang="en-IN" sz="2000" dirty="0">
                        <a:effectLst/>
                        <a:latin typeface="Times New Roman" panose="02020603050405020304" pitchFamily="18" charset="0"/>
                        <a:cs typeface="Times New Roman" panose="02020603050405020304" pitchFamily="18" charset="0"/>
                      </a:endParaRPr>
                    </a:p>
                    <a:p>
                      <a:pPr fontAlgn="t">
                        <a:buNone/>
                      </a:pPr>
                      <a:endParaRPr lang="en-IN" sz="2000" dirty="0">
                        <a:effectLst/>
                        <a:latin typeface="Times New Roman" panose="02020603050405020304" pitchFamily="18" charset="0"/>
                        <a:cs typeface="Times New Roman" panose="02020603050405020304" pitchFamily="18" charset="0"/>
                      </a:endParaRPr>
                    </a:p>
                  </a:txBody>
                  <a:tcPr marL="63782" marR="63782" marT="35434" marB="35434">
                    <a:lnL>
                      <a:noFill/>
                    </a:lnL>
                    <a:lnR>
                      <a:noFill/>
                    </a:lnR>
                    <a:lnT>
                      <a:noFill/>
                    </a:lnT>
                    <a:lnB>
                      <a:noFill/>
                    </a:lnB>
                    <a:solidFill>
                      <a:srgbClr val="FFFFFF"/>
                    </a:solidFill>
                  </a:tcPr>
                </a:tc>
                <a:extLst>
                  <a:ext uri="{0D108BD9-81ED-4DB2-BD59-A6C34878D82A}">
                    <a16:rowId xmlns:a16="http://schemas.microsoft.com/office/drawing/2014/main" val="3093309454"/>
                  </a:ext>
                </a:extLst>
              </a:tr>
              <a:tr h="349213">
                <a:tc>
                  <a:txBody>
                    <a:bodyPr/>
                    <a:lstStyle/>
                    <a:p>
                      <a:pPr fontAlgn="t">
                        <a:buNone/>
                      </a:pPr>
                      <a:endParaRPr lang="en-IN" sz="2000" dirty="0">
                        <a:effectLst/>
                        <a:latin typeface="Times New Roman" panose="02020603050405020304" pitchFamily="18" charset="0"/>
                        <a:cs typeface="Times New Roman" panose="02020603050405020304" pitchFamily="18" charset="0"/>
                      </a:endParaRPr>
                    </a:p>
                  </a:txBody>
                  <a:tcPr marL="63782" marR="63782" marT="35434" marB="35434">
                    <a:lnL>
                      <a:noFill/>
                    </a:lnL>
                    <a:lnR>
                      <a:noFill/>
                    </a:lnR>
                    <a:lnT>
                      <a:noFill/>
                    </a:lnT>
                    <a:lnB>
                      <a:noFill/>
                    </a:lnB>
                    <a:solidFill>
                      <a:srgbClr val="FFFFFF"/>
                    </a:solidFill>
                  </a:tcPr>
                </a:tc>
                <a:extLst>
                  <a:ext uri="{0D108BD9-81ED-4DB2-BD59-A6C34878D82A}">
                    <a16:rowId xmlns:a16="http://schemas.microsoft.com/office/drawing/2014/main" val="4260828748"/>
                  </a:ext>
                </a:extLst>
              </a:tr>
            </a:tbl>
          </a:graphicData>
        </a:graphic>
      </p:graphicFrame>
    </p:spTree>
    <p:extLst>
      <p:ext uri="{BB962C8B-B14F-4D97-AF65-F5344CB8AC3E}">
        <p14:creationId xmlns:p14="http://schemas.microsoft.com/office/powerpoint/2010/main" val="10179895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1E5710B9-62D1-3F80-4539-4D1371E5D876}"/>
              </a:ext>
            </a:extLst>
          </p:cNvPr>
          <p:cNvPicPr>
            <a:picLocks noChangeAspect="1"/>
          </p:cNvPicPr>
          <p:nvPr/>
        </p:nvPicPr>
        <p:blipFill>
          <a:blip r:embed="rId2"/>
          <a:stretch>
            <a:fillRect/>
          </a:stretch>
        </p:blipFill>
        <p:spPr>
          <a:xfrm>
            <a:off x="210667" y="191626"/>
            <a:ext cx="1135116" cy="1342883"/>
          </a:xfrm>
          <a:prstGeom prst="rect">
            <a:avLst/>
          </a:prstGeom>
        </p:spPr>
      </p:pic>
      <p:pic>
        <p:nvPicPr>
          <p:cNvPr id="3" name="picture 4">
            <a:extLst>
              <a:ext uri="{FF2B5EF4-FFF2-40B4-BE49-F238E27FC236}">
                <a16:creationId xmlns:a16="http://schemas.microsoft.com/office/drawing/2014/main" id="{62C65063-A325-7914-300A-2099D3B7F9DF}"/>
              </a:ext>
            </a:extLst>
          </p:cNvPr>
          <p:cNvPicPr>
            <a:picLocks noChangeAspect="1"/>
          </p:cNvPicPr>
          <p:nvPr/>
        </p:nvPicPr>
        <p:blipFill>
          <a:blip r:embed="rId3"/>
          <a:stretch>
            <a:fillRect/>
          </a:stretch>
        </p:blipFill>
        <p:spPr>
          <a:xfrm>
            <a:off x="10514231" y="191626"/>
            <a:ext cx="1520114" cy="1342883"/>
          </a:xfrm>
          <a:prstGeom prst="rect">
            <a:avLst/>
          </a:prstGeom>
        </p:spPr>
      </p:pic>
      <p:sp>
        <p:nvSpPr>
          <p:cNvPr id="4" name="TextBox 3">
            <a:extLst>
              <a:ext uri="{FF2B5EF4-FFF2-40B4-BE49-F238E27FC236}">
                <a16:creationId xmlns:a16="http://schemas.microsoft.com/office/drawing/2014/main" id="{E753DA4D-72D1-4850-2401-EDE9C060AD83}"/>
              </a:ext>
            </a:extLst>
          </p:cNvPr>
          <p:cNvSpPr txBox="1"/>
          <p:nvPr/>
        </p:nvSpPr>
        <p:spPr>
          <a:xfrm>
            <a:off x="2958523" y="2702159"/>
            <a:ext cx="7927848" cy="2246769"/>
          </a:xfrm>
          <a:prstGeom prst="rect">
            <a:avLst/>
          </a:prstGeom>
          <a:noFill/>
        </p:spPr>
        <p:txBody>
          <a:bodyPr wrap="square" rtlCol="0">
            <a:spAutoFit/>
          </a:bodyPr>
          <a:lstStyle/>
          <a:p>
            <a:r>
              <a:rPr lang="en-US" sz="7000" dirty="0">
                <a:highlight>
                  <a:srgbClr val="00FFFF"/>
                </a:highlight>
                <a:latin typeface="Eras Bold ITC" panose="020B0907030504020204" pitchFamily="34" charset="0"/>
                <a:cs typeface="Dubai Light" panose="020B0303030403030204" pitchFamily="34" charset="-78"/>
              </a:rPr>
              <a:t>THANK YOU</a:t>
            </a:r>
          </a:p>
          <a:p>
            <a:endParaRPr lang="en-IN" sz="7000" dirty="0">
              <a:latin typeface="Eras Bold ITC" panose="020B0907030504020204" pitchFamily="34" charset="0"/>
              <a:cs typeface="Dubai Light" panose="020B0303030403030204" pitchFamily="34" charset="-78"/>
            </a:endParaRPr>
          </a:p>
        </p:txBody>
      </p:sp>
    </p:spTree>
    <p:extLst>
      <p:ext uri="{BB962C8B-B14F-4D97-AF65-F5344CB8AC3E}">
        <p14:creationId xmlns:p14="http://schemas.microsoft.com/office/powerpoint/2010/main" val="42942960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638</TotalTime>
  <Words>1315</Words>
  <Application>Microsoft Office PowerPoint</Application>
  <PresentationFormat>Widescreen</PresentationFormat>
  <Paragraphs>164</Paragraphs>
  <Slides>16</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Aptos Display</vt:lpstr>
      <vt:lpstr>Arial</vt:lpstr>
      <vt:lpstr>Eras Bold ITC</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Yogesh Ramu B</dc:creator>
  <cp:lastModifiedBy>Yogesh Ramu B</cp:lastModifiedBy>
  <cp:revision>18</cp:revision>
  <dcterms:created xsi:type="dcterms:W3CDTF">2025-12-05T17:20:48Z</dcterms:created>
  <dcterms:modified xsi:type="dcterms:W3CDTF">2025-12-23T18:03:44Z</dcterms:modified>
</cp:coreProperties>
</file>